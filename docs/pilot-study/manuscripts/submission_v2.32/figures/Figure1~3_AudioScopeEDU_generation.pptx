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learning-route-label">
            <a:extLst>
              <a:ext uri="{FF2B5EF4-FFF2-40B4-BE49-F238E27FC236}">
                <a16:creationId xmlns:a16="http://schemas.microsoft.com/office/drawing/2014/main" id="{E0BB9A2E-AA67-434C-B848-94763A58AEC7}"/>
              </a:ext>
            </a:extLst>
          </p:cNvPr>
          <p:cNvSpPr>
            <a:spLocks noGrp="1"/>
          </p:cNvSpPr>
          <p:nvPr/>
        </p:nvSpPr>
        <p:spPr>
          <a:xfrm>
            <a:off x="258948" y="4893856"/>
            <a:ext cx="461452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altLang="ja-JP" b="1" dirty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※</a:t>
            </a:r>
            <a:r>
              <a:rPr lang="ja-JP" altLang="en-US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 １）</a:t>
            </a:r>
            <a:r>
              <a:rPr b="1" dirty="0" err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学習時</a:t>
            </a:r>
            <a:r>
              <a:rPr lang="ja-JP" altLang="en-US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：</a:t>
            </a:r>
            <a:r>
              <a:rPr b="1" dirty="0" err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システム内部で無作為選択</a:t>
            </a:r>
            <a:endParaRPr lang="en-US" b="1" dirty="0">
              <a:solidFill>
                <a:srgbClr val="111827"/>
              </a:solidFill>
              <a:latin typeface="Hiragino Sans"/>
              <a:ea typeface="Hiragino Sans"/>
              <a:cs typeface="Hiragino Sans"/>
            </a:endParaRPr>
          </a:p>
          <a:p>
            <a:pPr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　</a:t>
            </a:r>
            <a:r>
              <a:rPr lang="en-US" altLang="ja-JP" b="1" dirty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 </a:t>
            </a:r>
            <a:r>
              <a:rPr lang="ja-JP" altLang="en-US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２）検証時：生成条件・乱数初期値を指定　　</a:t>
            </a:r>
            <a:endParaRPr b="1" dirty="0">
              <a:solidFill>
                <a:srgbClr val="111827"/>
              </a:solidFill>
              <a:latin typeface="Hiragino Sans"/>
              <a:ea typeface="Hiragino Sans"/>
              <a:cs typeface="Hiragino Sans"/>
            </a:endParaRPr>
          </a:p>
        </p:txBody>
      </p:sp>
      <p:cxnSp>
        <p:nvCxnSpPr>
          <p:cNvPr id="36" name="top-separator"/>
          <p:cNvCxnSpPr/>
          <p:nvPr/>
        </p:nvCxnSpPr>
        <p:spPr>
          <a:xfrm>
            <a:off x="330052" y="4774906"/>
            <a:ext cx="11372850" cy="0"/>
          </a:xfrm>
          <a:prstGeom prst="straightConnector1">
            <a:avLst/>
          </a:prstGeom>
          <a:ln w="11906">
            <a:solidFill>
              <a:srgbClr val="B8BCC4"/>
            </a:solidFill>
            <a:prstDash val="solid"/>
          </a:ln>
        </p:spPr>
      </p:cxnSp>
      <p:sp>
        <p:nvSpPr>
          <p:cNvPr id="4" name="flow-arrow-1">
            <a:extLst>
              <a:ext uri="{FF2B5EF4-FFF2-40B4-BE49-F238E27FC236}">
                <a16:creationId xmlns:a16="http://schemas.microsoft.com/office/drawing/2014/main" id="{DBD9A42A-CE80-44FC-99A7-4897ED8F9EBB}"/>
              </a:ext>
            </a:extLst>
          </p:cNvPr>
          <p:cNvSpPr>
            <a:spLocks noGrp="1"/>
          </p:cNvSpPr>
          <p:nvPr/>
        </p:nvSpPr>
        <p:spPr>
          <a:xfrm>
            <a:off x="2339827" y="1762125"/>
            <a:ext cx="304800" cy="228600"/>
          </a:xfrm>
          <a:prstGeom prst="rightArrow">
            <a:avLst/>
          </a:prstGeom>
          <a:solidFill>
            <a:srgbClr val="6B728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flow-arrow-2">
            <a:extLst>
              <a:ext uri="{FF2B5EF4-FFF2-40B4-BE49-F238E27FC236}">
                <a16:creationId xmlns:a16="http://schemas.microsoft.com/office/drawing/2014/main" id="{6ACCDB73-F365-4D16-98B2-5077841C0D95}"/>
              </a:ext>
            </a:extLst>
          </p:cNvPr>
          <p:cNvSpPr>
            <a:spLocks noGrp="1"/>
          </p:cNvSpPr>
          <p:nvPr/>
        </p:nvSpPr>
        <p:spPr>
          <a:xfrm>
            <a:off x="4721077" y="1762125"/>
            <a:ext cx="304800" cy="228600"/>
          </a:xfrm>
          <a:prstGeom prst="rightArrow">
            <a:avLst/>
          </a:prstGeom>
          <a:solidFill>
            <a:srgbClr val="6B728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flow-arrow-3">
            <a:extLst>
              <a:ext uri="{FF2B5EF4-FFF2-40B4-BE49-F238E27FC236}">
                <a16:creationId xmlns:a16="http://schemas.microsoft.com/office/drawing/2014/main" id="{5114223D-8DB2-412A-94E6-2A48CCB9A298}"/>
              </a:ext>
            </a:extLst>
          </p:cNvPr>
          <p:cNvSpPr>
            <a:spLocks noGrp="1"/>
          </p:cNvSpPr>
          <p:nvPr/>
        </p:nvSpPr>
        <p:spPr>
          <a:xfrm>
            <a:off x="7102327" y="1762125"/>
            <a:ext cx="304800" cy="228600"/>
          </a:xfrm>
          <a:prstGeom prst="rightArrow">
            <a:avLst/>
          </a:prstGeom>
          <a:solidFill>
            <a:srgbClr val="6B728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flow-arrow-4">
            <a:extLst>
              <a:ext uri="{FF2B5EF4-FFF2-40B4-BE49-F238E27FC236}">
                <a16:creationId xmlns:a16="http://schemas.microsoft.com/office/drawing/2014/main" id="{1F8E9342-65C8-4243-B6A0-A1FD0B6FEA69}"/>
              </a:ext>
            </a:extLst>
          </p:cNvPr>
          <p:cNvSpPr>
            <a:spLocks noGrp="1"/>
          </p:cNvSpPr>
          <p:nvPr/>
        </p:nvSpPr>
        <p:spPr>
          <a:xfrm>
            <a:off x="9483577" y="1762125"/>
            <a:ext cx="304800" cy="228600"/>
          </a:xfrm>
          <a:prstGeom prst="rightArrow">
            <a:avLst/>
          </a:prstGeom>
          <a:solidFill>
            <a:srgbClr val="6B728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tep-1-card">
            <a:extLst>
              <a:ext uri="{FF2B5EF4-FFF2-40B4-BE49-F238E27FC236}">
                <a16:creationId xmlns:a16="http://schemas.microsoft.com/office/drawing/2014/main" id="{82A4788F-9CCD-46AD-AD20-F39A8B4F73A8}"/>
              </a:ext>
            </a:extLst>
          </p:cNvPr>
          <p:cNvSpPr>
            <a:spLocks noGrp="1"/>
          </p:cNvSpPr>
          <p:nvPr/>
        </p:nvSpPr>
        <p:spPr>
          <a:xfrm>
            <a:off x="330052" y="323850"/>
            <a:ext cx="1943100" cy="3105150"/>
          </a:xfrm>
          <a:prstGeom prst="rect">
            <a:avLst/>
          </a:prstGeom>
          <a:solidFill>
            <a:srgbClr val="F3F4F6"/>
          </a:solidFill>
          <a:ln w="11906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tep-1-number-circle">
            <a:extLst>
              <a:ext uri="{FF2B5EF4-FFF2-40B4-BE49-F238E27FC236}">
                <a16:creationId xmlns:a16="http://schemas.microsoft.com/office/drawing/2014/main" id="{47FCC9CB-3A30-472F-A304-ABFD6B04CC59}"/>
              </a:ext>
            </a:extLst>
          </p:cNvPr>
          <p:cNvSpPr>
            <a:spLocks noGrp="1"/>
          </p:cNvSpPr>
          <p:nvPr/>
        </p:nvSpPr>
        <p:spPr>
          <a:xfrm>
            <a:off x="463402" y="457200"/>
            <a:ext cx="361950" cy="361950"/>
          </a:xfrm>
          <a:prstGeom prst="ellipse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0" name="step-1-title">
            <a:extLst>
              <a:ext uri="{FF2B5EF4-FFF2-40B4-BE49-F238E27FC236}">
                <a16:creationId xmlns:a16="http://schemas.microsoft.com/office/drawing/2014/main" id="{FD2A0E49-6FA0-4499-A297-CBFADACD24FE}"/>
              </a:ext>
            </a:extLst>
          </p:cNvPr>
          <p:cNvSpPr>
            <a:spLocks noGrp="1"/>
          </p:cNvSpPr>
          <p:nvPr/>
        </p:nvSpPr>
        <p:spPr>
          <a:xfrm>
            <a:off x="408021" y="962025"/>
            <a:ext cx="1790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dirty="0" err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生成条件の決定</a:t>
            </a:r>
            <a:endParaRPr sz="1800" b="1" dirty="0">
              <a:solidFill>
                <a:srgbClr val="111827"/>
              </a:solidFill>
              <a:latin typeface="Hiragino Sans"/>
              <a:ea typeface="Hiragino Sans"/>
              <a:cs typeface="Hiragino Sans"/>
            </a:endParaRPr>
          </a:p>
        </p:txBody>
      </p:sp>
      <p:cxnSp>
        <p:nvCxnSpPr>
          <p:cNvPr id="44" name="step-1-rule"/>
          <p:cNvCxnSpPr/>
          <p:nvPr/>
        </p:nvCxnSpPr>
        <p:spPr>
          <a:xfrm>
            <a:off x="558652" y="1704975"/>
            <a:ext cx="1485900" cy="0"/>
          </a:xfrm>
          <a:prstGeom prst="straightConnector1">
            <a:avLst/>
          </a:prstGeom>
          <a:ln w="9525">
            <a:solidFill>
              <a:srgbClr val="D1D5DB"/>
            </a:solidFill>
            <a:prstDash val="solid"/>
          </a:ln>
        </p:spPr>
      </p:cxnSp>
      <p:sp>
        <p:nvSpPr>
          <p:cNvPr id="12" name="step-1-body">
            <a:extLst>
              <a:ext uri="{FF2B5EF4-FFF2-40B4-BE49-F238E27FC236}">
                <a16:creationId xmlns:a16="http://schemas.microsoft.com/office/drawing/2014/main" id="{34DEE9BE-0098-4E79-97ED-2C41F46B0D09}"/>
              </a:ext>
            </a:extLst>
          </p:cNvPr>
          <p:cNvSpPr>
            <a:spLocks noGrp="1"/>
          </p:cNvSpPr>
          <p:nvPr/>
        </p:nvSpPr>
        <p:spPr>
          <a:xfrm>
            <a:off x="501502" y="1819275"/>
            <a:ext cx="1600200" cy="1438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374151"/>
                </a:solidFill>
                <a:latin typeface="Hiragino Sans"/>
                <a:ea typeface="Hiragino Sans"/>
                <a:cs typeface="Hiragino Sans"/>
              </a:defRPr>
            </a:pPr>
            <a:r>
              <a:rPr sz="1400" b="1" dirty="0" err="1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年齢・性別</a:t>
            </a:r>
            <a:endParaRPr sz="1400" b="1" dirty="0">
              <a:solidFill>
                <a:srgbClr val="374151"/>
              </a:solidFill>
              <a:latin typeface="Hiragino Sans"/>
              <a:ea typeface="Hiragino Sans"/>
              <a:cs typeface="Hiragino Sans"/>
            </a:endParaRPr>
          </a:p>
          <a:p>
            <a:pPr algn="ctr">
              <a:defRPr sz="1350" b="0">
                <a:solidFill>
                  <a:srgbClr val="374151"/>
                </a:solidFill>
                <a:latin typeface="Hiragino Sans"/>
                <a:ea typeface="Hiragino Sans"/>
                <a:cs typeface="Hiragino Sans"/>
              </a:defRPr>
            </a:pPr>
            <a:r>
              <a:rPr sz="1400" b="1" dirty="0" err="1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疾患別パターン</a:t>
            </a:r>
            <a:endParaRPr sz="1400" b="1" dirty="0">
              <a:solidFill>
                <a:srgbClr val="374151"/>
              </a:solidFill>
              <a:latin typeface="Hiragino Sans"/>
              <a:ea typeface="Hiragino Sans"/>
              <a:cs typeface="Hiragino Sans"/>
            </a:endParaRPr>
          </a:p>
          <a:p>
            <a:pPr algn="ctr">
              <a:defRPr sz="1350" b="0">
                <a:solidFill>
                  <a:srgbClr val="374151"/>
                </a:solidFill>
                <a:latin typeface="Hiragino Sans"/>
                <a:ea typeface="Hiragino Sans"/>
                <a:cs typeface="Hiragino Sans"/>
              </a:defRPr>
            </a:pPr>
            <a:r>
              <a:rPr sz="1400" b="1" dirty="0" err="1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難聴程度</a:t>
            </a:r>
            <a:endParaRPr sz="1400" b="1" dirty="0">
              <a:solidFill>
                <a:srgbClr val="37415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3" name="step-2-card">
            <a:extLst>
              <a:ext uri="{FF2B5EF4-FFF2-40B4-BE49-F238E27FC236}">
                <a16:creationId xmlns:a16="http://schemas.microsoft.com/office/drawing/2014/main" id="{A0C5102F-8B86-45E8-B79B-EAAF5C7DCCDA}"/>
              </a:ext>
            </a:extLst>
          </p:cNvPr>
          <p:cNvSpPr>
            <a:spLocks noGrp="1"/>
          </p:cNvSpPr>
          <p:nvPr/>
        </p:nvSpPr>
        <p:spPr>
          <a:xfrm>
            <a:off x="2711302" y="323850"/>
            <a:ext cx="1943100" cy="3105150"/>
          </a:xfrm>
          <a:prstGeom prst="rect">
            <a:avLst/>
          </a:prstGeom>
          <a:solidFill>
            <a:srgbClr val="F3F4F6"/>
          </a:solidFill>
          <a:ln w="11906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 sz="1400" b="1"/>
          </a:p>
        </p:txBody>
      </p:sp>
      <p:sp>
        <p:nvSpPr>
          <p:cNvPr id="14" name="step-2-number-circle">
            <a:extLst>
              <a:ext uri="{FF2B5EF4-FFF2-40B4-BE49-F238E27FC236}">
                <a16:creationId xmlns:a16="http://schemas.microsoft.com/office/drawing/2014/main" id="{F70C0FB0-FA23-4A13-87D4-3D8A5A4CBE84}"/>
              </a:ext>
            </a:extLst>
          </p:cNvPr>
          <p:cNvSpPr>
            <a:spLocks noGrp="1"/>
          </p:cNvSpPr>
          <p:nvPr/>
        </p:nvSpPr>
        <p:spPr>
          <a:xfrm>
            <a:off x="2844652" y="457200"/>
            <a:ext cx="361950" cy="361950"/>
          </a:xfrm>
          <a:prstGeom prst="ellipse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5" name="step-2-title">
            <a:extLst>
              <a:ext uri="{FF2B5EF4-FFF2-40B4-BE49-F238E27FC236}">
                <a16:creationId xmlns:a16="http://schemas.microsoft.com/office/drawing/2014/main" id="{E5DDB922-63F4-4974-8921-22205C15AFC8}"/>
              </a:ext>
            </a:extLst>
          </p:cNvPr>
          <p:cNvSpPr>
            <a:spLocks noGrp="1"/>
          </p:cNvSpPr>
          <p:nvPr/>
        </p:nvSpPr>
        <p:spPr>
          <a:xfrm>
            <a:off x="2863702" y="962025"/>
            <a:ext cx="1638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基準帯の参照</a:t>
            </a:r>
          </a:p>
        </p:txBody>
      </p:sp>
      <p:cxnSp>
        <p:nvCxnSpPr>
          <p:cNvPr id="49" name="step-2-rule"/>
          <p:cNvCxnSpPr/>
          <p:nvPr/>
        </p:nvCxnSpPr>
        <p:spPr>
          <a:xfrm>
            <a:off x="2939902" y="1704975"/>
            <a:ext cx="1485900" cy="0"/>
          </a:xfrm>
          <a:prstGeom prst="straightConnector1">
            <a:avLst/>
          </a:prstGeom>
          <a:ln w="9525">
            <a:solidFill>
              <a:srgbClr val="D1D5DB"/>
            </a:solidFill>
            <a:prstDash val="solid"/>
          </a:ln>
        </p:spPr>
      </p:cxnSp>
      <p:sp>
        <p:nvSpPr>
          <p:cNvPr id="17" name="step-2-body">
            <a:extLst>
              <a:ext uri="{FF2B5EF4-FFF2-40B4-BE49-F238E27FC236}">
                <a16:creationId xmlns:a16="http://schemas.microsoft.com/office/drawing/2014/main" id="{91FC62C7-E65F-4640-8E38-CC0F6AD0DD8B}"/>
              </a:ext>
            </a:extLst>
          </p:cNvPr>
          <p:cNvSpPr>
            <a:spLocks noGrp="1"/>
          </p:cNvSpPr>
          <p:nvPr/>
        </p:nvSpPr>
        <p:spPr>
          <a:xfrm>
            <a:off x="2882752" y="1819275"/>
            <a:ext cx="1600200" cy="1438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374151"/>
                </a:solidFill>
                <a:latin typeface="Hiragino Sans"/>
                <a:ea typeface="Hiragino Sans"/>
                <a:cs typeface="Hiragino Sans"/>
              </a:defRPr>
            </a:pPr>
            <a:r>
              <a:rPr sz="1400" b="1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ISO 7029:2017</a:t>
            </a:r>
          </a:p>
          <a:p>
            <a:pPr algn="ctr">
              <a:defRPr sz="1350" b="0">
                <a:solidFill>
                  <a:srgbClr val="374151"/>
                </a:solidFill>
                <a:latin typeface="Hiragino Sans"/>
                <a:ea typeface="Hiragino Sans"/>
                <a:cs typeface="Hiragino Sans"/>
              </a:defRPr>
            </a:pPr>
            <a:r>
              <a:rPr sz="1400" b="1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年齢・性別別の</a:t>
            </a:r>
          </a:p>
          <a:p>
            <a:pPr algn="ctr">
              <a:defRPr sz="1350" b="0">
                <a:solidFill>
                  <a:srgbClr val="374151"/>
                </a:solidFill>
                <a:latin typeface="Hiragino Sans"/>
                <a:ea typeface="Hiragino Sans"/>
                <a:cs typeface="Hiragino Sans"/>
              </a:defRPr>
            </a:pPr>
            <a:r>
              <a:rPr sz="1400" b="1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基準帯</a:t>
            </a:r>
          </a:p>
        </p:txBody>
      </p:sp>
      <p:sp>
        <p:nvSpPr>
          <p:cNvPr id="18" name="step-3-card">
            <a:extLst>
              <a:ext uri="{FF2B5EF4-FFF2-40B4-BE49-F238E27FC236}">
                <a16:creationId xmlns:a16="http://schemas.microsoft.com/office/drawing/2014/main" id="{9828870E-157D-4289-9635-BE138E88C693}"/>
              </a:ext>
            </a:extLst>
          </p:cNvPr>
          <p:cNvSpPr>
            <a:spLocks noGrp="1"/>
          </p:cNvSpPr>
          <p:nvPr/>
        </p:nvSpPr>
        <p:spPr>
          <a:xfrm>
            <a:off x="5092552" y="323850"/>
            <a:ext cx="1943100" cy="3105150"/>
          </a:xfrm>
          <a:prstGeom prst="rect">
            <a:avLst/>
          </a:prstGeom>
          <a:solidFill>
            <a:srgbClr val="F3F4F6"/>
          </a:solidFill>
          <a:ln w="11906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 sz="1400" b="1"/>
          </a:p>
        </p:txBody>
      </p:sp>
      <p:sp>
        <p:nvSpPr>
          <p:cNvPr id="19" name="step-3-number-circle">
            <a:extLst>
              <a:ext uri="{FF2B5EF4-FFF2-40B4-BE49-F238E27FC236}">
                <a16:creationId xmlns:a16="http://schemas.microsoft.com/office/drawing/2014/main" id="{FD9BC852-807C-4418-B0EA-8813ED530F5C}"/>
              </a:ext>
            </a:extLst>
          </p:cNvPr>
          <p:cNvSpPr>
            <a:spLocks noGrp="1"/>
          </p:cNvSpPr>
          <p:nvPr/>
        </p:nvSpPr>
        <p:spPr>
          <a:xfrm>
            <a:off x="5225902" y="457200"/>
            <a:ext cx="361950" cy="361950"/>
          </a:xfrm>
          <a:prstGeom prst="ellipse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0" name="step-3-title">
            <a:extLst>
              <a:ext uri="{FF2B5EF4-FFF2-40B4-BE49-F238E27FC236}">
                <a16:creationId xmlns:a16="http://schemas.microsoft.com/office/drawing/2014/main" id="{EF0A82E1-1DAE-4A9D-ACE0-2DA819FC045D}"/>
              </a:ext>
            </a:extLst>
          </p:cNvPr>
          <p:cNvSpPr>
            <a:spLocks noGrp="1"/>
          </p:cNvSpPr>
          <p:nvPr/>
        </p:nvSpPr>
        <p:spPr>
          <a:xfrm>
            <a:off x="5244952" y="962025"/>
            <a:ext cx="1638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閾値の変換</a:t>
            </a:r>
          </a:p>
        </p:txBody>
      </p:sp>
      <p:cxnSp>
        <p:nvCxnSpPr>
          <p:cNvPr id="54" name="step-3-rule"/>
          <p:cNvCxnSpPr/>
          <p:nvPr/>
        </p:nvCxnSpPr>
        <p:spPr>
          <a:xfrm>
            <a:off x="5321152" y="1704975"/>
            <a:ext cx="1485900" cy="0"/>
          </a:xfrm>
          <a:prstGeom prst="straightConnector1">
            <a:avLst/>
          </a:prstGeom>
          <a:ln w="9525">
            <a:solidFill>
              <a:srgbClr val="D1D5DB"/>
            </a:solidFill>
            <a:prstDash val="solid"/>
          </a:ln>
        </p:spPr>
      </p:cxnSp>
      <p:sp>
        <p:nvSpPr>
          <p:cNvPr id="22" name="step-3-body">
            <a:extLst>
              <a:ext uri="{FF2B5EF4-FFF2-40B4-BE49-F238E27FC236}">
                <a16:creationId xmlns:a16="http://schemas.microsoft.com/office/drawing/2014/main" id="{7073C8EA-C4EA-40CC-B958-4C9B04A4F59C}"/>
              </a:ext>
            </a:extLst>
          </p:cNvPr>
          <p:cNvSpPr>
            <a:spLocks noGrp="1"/>
          </p:cNvSpPr>
          <p:nvPr/>
        </p:nvSpPr>
        <p:spPr>
          <a:xfrm>
            <a:off x="5229226" y="1819275"/>
            <a:ext cx="1666875" cy="1438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374151"/>
                </a:solidFill>
                <a:latin typeface="Hiragino Sans"/>
                <a:ea typeface="Hiragino Sans"/>
                <a:cs typeface="Hiragino Sans"/>
              </a:defRPr>
            </a:pPr>
            <a:r>
              <a:rPr sz="1400" b="1" dirty="0" err="1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疾患別パターン</a:t>
            </a:r>
            <a:endParaRPr sz="1400" b="1" dirty="0">
              <a:solidFill>
                <a:srgbClr val="374151"/>
              </a:solidFill>
              <a:latin typeface="Hiragino Sans"/>
              <a:ea typeface="Hiragino Sans"/>
              <a:cs typeface="Hiragino Sans"/>
            </a:endParaRPr>
          </a:p>
          <a:p>
            <a:pPr algn="ctr">
              <a:defRPr sz="1350" b="0">
                <a:solidFill>
                  <a:srgbClr val="374151"/>
                </a:solidFill>
                <a:latin typeface="Hiragino Sans"/>
                <a:ea typeface="Hiragino Sans"/>
                <a:cs typeface="Hiragino Sans"/>
              </a:defRPr>
            </a:pPr>
            <a:r>
              <a:rPr sz="1400" b="1" dirty="0" err="1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難聴程度に応じた</a:t>
            </a:r>
            <a:endParaRPr sz="1400" b="1" dirty="0">
              <a:solidFill>
                <a:srgbClr val="374151"/>
              </a:solidFill>
              <a:latin typeface="Hiragino Sans"/>
              <a:ea typeface="Hiragino Sans"/>
              <a:cs typeface="Hiragino Sans"/>
            </a:endParaRPr>
          </a:p>
          <a:p>
            <a:pPr algn="ctr">
              <a:defRPr sz="1350" b="0">
                <a:solidFill>
                  <a:srgbClr val="374151"/>
                </a:solidFill>
                <a:latin typeface="Hiragino Sans"/>
                <a:ea typeface="Hiragino Sans"/>
                <a:cs typeface="Hiragino Sans"/>
              </a:defRPr>
            </a:pPr>
            <a:r>
              <a:rPr sz="1400" b="1" dirty="0" err="1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閾値上昇</a:t>
            </a:r>
            <a:endParaRPr sz="1400" b="1" dirty="0">
              <a:solidFill>
                <a:srgbClr val="37415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3" name="step-4-card">
            <a:extLst>
              <a:ext uri="{FF2B5EF4-FFF2-40B4-BE49-F238E27FC236}">
                <a16:creationId xmlns:a16="http://schemas.microsoft.com/office/drawing/2014/main" id="{C1ED9B88-2AFD-4BCA-BAEE-6BD554FAB10F}"/>
              </a:ext>
            </a:extLst>
          </p:cNvPr>
          <p:cNvSpPr>
            <a:spLocks noGrp="1"/>
          </p:cNvSpPr>
          <p:nvPr/>
        </p:nvSpPr>
        <p:spPr>
          <a:xfrm>
            <a:off x="7473802" y="323850"/>
            <a:ext cx="1943100" cy="3105150"/>
          </a:xfrm>
          <a:prstGeom prst="rect">
            <a:avLst/>
          </a:prstGeom>
          <a:solidFill>
            <a:srgbClr val="E7F5FC"/>
          </a:solidFill>
          <a:ln w="23813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tep-4-number-circle">
            <a:extLst>
              <a:ext uri="{FF2B5EF4-FFF2-40B4-BE49-F238E27FC236}">
                <a16:creationId xmlns:a16="http://schemas.microsoft.com/office/drawing/2014/main" id="{AD8C37D9-0D61-438D-AC4D-81AAA0387782}"/>
              </a:ext>
            </a:extLst>
          </p:cNvPr>
          <p:cNvSpPr>
            <a:spLocks noGrp="1"/>
          </p:cNvSpPr>
          <p:nvPr/>
        </p:nvSpPr>
        <p:spPr>
          <a:xfrm>
            <a:off x="7607152" y="457200"/>
            <a:ext cx="361950" cy="3619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5" name="step-4-title">
            <a:extLst>
              <a:ext uri="{FF2B5EF4-FFF2-40B4-BE49-F238E27FC236}">
                <a16:creationId xmlns:a16="http://schemas.microsoft.com/office/drawing/2014/main" id="{0F3BF2A2-8850-4E6A-A6C7-C19363788934}"/>
              </a:ext>
            </a:extLst>
          </p:cNvPr>
          <p:cNvSpPr>
            <a:spLocks noGrp="1"/>
          </p:cNvSpPr>
          <p:nvPr/>
        </p:nvSpPr>
        <p:spPr>
          <a:xfrm>
            <a:off x="7548233" y="962025"/>
            <a:ext cx="1790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dirty="0" err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出力規則の適用</a:t>
            </a:r>
            <a:endParaRPr sz="1800" b="1" dirty="0">
              <a:solidFill>
                <a:srgbClr val="111827"/>
              </a:solidFill>
              <a:latin typeface="Hiragino Sans"/>
              <a:ea typeface="Hiragino Sans"/>
              <a:cs typeface="Hiragino Sans"/>
            </a:endParaRPr>
          </a:p>
        </p:txBody>
      </p:sp>
      <p:cxnSp>
        <p:nvCxnSpPr>
          <p:cNvPr id="59" name="step-4-rule"/>
          <p:cNvCxnSpPr/>
          <p:nvPr/>
        </p:nvCxnSpPr>
        <p:spPr>
          <a:xfrm>
            <a:off x="7702402" y="1704975"/>
            <a:ext cx="1485900" cy="0"/>
          </a:xfrm>
          <a:prstGeom prst="straightConnector1">
            <a:avLst/>
          </a:prstGeom>
          <a:ln w="9525">
            <a:solidFill>
              <a:srgbClr val="6DCBF4"/>
            </a:solidFill>
            <a:prstDash val="solid"/>
          </a:ln>
        </p:spPr>
      </p:cxnSp>
      <p:sp>
        <p:nvSpPr>
          <p:cNvPr id="27" name="step-4-body">
            <a:extLst>
              <a:ext uri="{FF2B5EF4-FFF2-40B4-BE49-F238E27FC236}">
                <a16:creationId xmlns:a16="http://schemas.microsoft.com/office/drawing/2014/main" id="{66DF0241-7F02-4583-B2E9-4139D207A686}"/>
              </a:ext>
            </a:extLst>
          </p:cNvPr>
          <p:cNvSpPr>
            <a:spLocks noGrp="1"/>
          </p:cNvSpPr>
          <p:nvPr/>
        </p:nvSpPr>
        <p:spPr>
          <a:xfrm>
            <a:off x="7607153" y="1819275"/>
            <a:ext cx="1731780" cy="1438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374151"/>
                </a:solidFill>
                <a:latin typeface="Hiragino Sans"/>
                <a:ea typeface="Hiragino Sans"/>
                <a:cs typeface="Hiragino Sans"/>
              </a:defRPr>
            </a:pPr>
            <a:r>
              <a:rPr sz="1400" b="1" dirty="0" err="1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周波数別上下限</a:t>
            </a:r>
            <a:endParaRPr sz="1400" b="1" dirty="0">
              <a:solidFill>
                <a:srgbClr val="374151"/>
              </a:solidFill>
              <a:latin typeface="Hiragino Sans"/>
              <a:ea typeface="Hiragino Sans"/>
              <a:cs typeface="Hiragino Sans"/>
            </a:endParaRPr>
          </a:p>
          <a:p>
            <a:pPr algn="ctr">
              <a:defRPr sz="1350" b="0">
                <a:solidFill>
                  <a:srgbClr val="374151"/>
                </a:solidFill>
                <a:latin typeface="Hiragino Sans"/>
                <a:ea typeface="Hiragino Sans"/>
                <a:cs typeface="Hiragino Sans"/>
              </a:defRPr>
            </a:pPr>
            <a:r>
              <a:rPr sz="1400" b="1" dirty="0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5 </a:t>
            </a:r>
            <a:r>
              <a:rPr sz="1400" b="1" dirty="0" err="1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dB単位への丸め</a:t>
            </a:r>
            <a:endParaRPr sz="1400" b="1" dirty="0">
              <a:solidFill>
                <a:srgbClr val="374151"/>
              </a:solidFill>
              <a:latin typeface="Hiragino Sans"/>
              <a:ea typeface="Hiragino Sans"/>
              <a:cs typeface="Hiragino Sans"/>
            </a:endParaRPr>
          </a:p>
          <a:p>
            <a:pPr algn="ctr">
              <a:defRPr sz="1350" b="0">
                <a:solidFill>
                  <a:srgbClr val="374151"/>
                </a:solidFill>
                <a:latin typeface="Hiragino Sans"/>
                <a:ea typeface="Hiragino Sans"/>
                <a:cs typeface="Hiragino Sans"/>
              </a:defRPr>
            </a:pPr>
            <a:r>
              <a:rPr sz="1400" b="1" dirty="0" err="1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気骨導関係の拘束</a:t>
            </a:r>
            <a:endParaRPr sz="1400" b="1" dirty="0">
              <a:solidFill>
                <a:srgbClr val="374151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28" name="step-5-card">
            <a:extLst>
              <a:ext uri="{FF2B5EF4-FFF2-40B4-BE49-F238E27FC236}">
                <a16:creationId xmlns:a16="http://schemas.microsoft.com/office/drawing/2014/main" id="{1CFE4172-C0FA-4D30-A268-E9C2A18ED1D7}"/>
              </a:ext>
            </a:extLst>
          </p:cNvPr>
          <p:cNvSpPr>
            <a:spLocks noGrp="1"/>
          </p:cNvSpPr>
          <p:nvPr/>
        </p:nvSpPr>
        <p:spPr>
          <a:xfrm>
            <a:off x="9855052" y="323850"/>
            <a:ext cx="1943100" cy="3105150"/>
          </a:xfrm>
          <a:prstGeom prst="rect">
            <a:avLst/>
          </a:prstGeom>
          <a:solidFill>
            <a:srgbClr val="F3F4F6"/>
          </a:solidFill>
          <a:ln w="11906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tep-5-number-circle">
            <a:extLst>
              <a:ext uri="{FF2B5EF4-FFF2-40B4-BE49-F238E27FC236}">
                <a16:creationId xmlns:a16="http://schemas.microsoft.com/office/drawing/2014/main" id="{89D36656-4745-4F19-8CAF-20293D12D184}"/>
              </a:ext>
            </a:extLst>
          </p:cNvPr>
          <p:cNvSpPr>
            <a:spLocks noGrp="1"/>
          </p:cNvSpPr>
          <p:nvPr/>
        </p:nvSpPr>
        <p:spPr>
          <a:xfrm>
            <a:off x="9988402" y="457200"/>
            <a:ext cx="361950" cy="361950"/>
          </a:xfrm>
          <a:prstGeom prst="ellipse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30" name="step-5-title">
            <a:extLst>
              <a:ext uri="{FF2B5EF4-FFF2-40B4-BE49-F238E27FC236}">
                <a16:creationId xmlns:a16="http://schemas.microsoft.com/office/drawing/2014/main" id="{58672980-025C-4741-8721-49C5434711AE}"/>
              </a:ext>
            </a:extLst>
          </p:cNvPr>
          <p:cNvSpPr>
            <a:spLocks noGrp="1"/>
          </p:cNvSpPr>
          <p:nvPr/>
        </p:nvSpPr>
        <p:spPr>
          <a:xfrm>
            <a:off x="9855052" y="962025"/>
            <a:ext cx="18859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dirty="0" err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閾値出力・提示</a:t>
            </a:r>
            <a:endParaRPr sz="1800" b="1" dirty="0">
              <a:solidFill>
                <a:srgbClr val="111827"/>
              </a:solidFill>
              <a:latin typeface="Hiragino Sans"/>
              <a:ea typeface="Hiragino Sans"/>
              <a:cs typeface="Hiragino Sans"/>
            </a:endParaRPr>
          </a:p>
        </p:txBody>
      </p:sp>
      <p:cxnSp>
        <p:nvCxnSpPr>
          <p:cNvPr id="64" name="step-5-rule"/>
          <p:cNvCxnSpPr/>
          <p:nvPr/>
        </p:nvCxnSpPr>
        <p:spPr>
          <a:xfrm>
            <a:off x="10083652" y="1704975"/>
            <a:ext cx="1485900" cy="0"/>
          </a:xfrm>
          <a:prstGeom prst="straightConnector1">
            <a:avLst/>
          </a:prstGeom>
          <a:ln w="9525">
            <a:solidFill>
              <a:srgbClr val="D1D5DB"/>
            </a:solidFill>
            <a:prstDash val="solid"/>
          </a:ln>
        </p:spPr>
      </p:cxnSp>
      <p:sp>
        <p:nvSpPr>
          <p:cNvPr id="32" name="step-5-body">
            <a:extLst>
              <a:ext uri="{FF2B5EF4-FFF2-40B4-BE49-F238E27FC236}">
                <a16:creationId xmlns:a16="http://schemas.microsoft.com/office/drawing/2014/main" id="{1AEAF51C-300A-4DCF-87A0-EECD30A81B08}"/>
              </a:ext>
            </a:extLst>
          </p:cNvPr>
          <p:cNvSpPr>
            <a:spLocks noGrp="1"/>
          </p:cNvSpPr>
          <p:nvPr/>
        </p:nvSpPr>
        <p:spPr>
          <a:xfrm>
            <a:off x="10026502" y="1819275"/>
            <a:ext cx="1600200" cy="1438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374151"/>
                </a:solidFill>
                <a:latin typeface="Hiragino Sans"/>
                <a:ea typeface="Hiragino Sans"/>
                <a:cs typeface="Hiragino Sans"/>
              </a:defRPr>
            </a:pPr>
            <a:r>
              <a:rPr sz="1400" b="1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気導・骨導閾値</a:t>
            </a:r>
          </a:p>
          <a:p>
            <a:pPr algn="ctr">
              <a:defRPr sz="1350" b="0">
                <a:solidFill>
                  <a:srgbClr val="374151"/>
                </a:solidFill>
                <a:latin typeface="Hiragino Sans"/>
                <a:ea typeface="Hiragino Sans"/>
                <a:cs typeface="Hiragino Sans"/>
              </a:defRPr>
            </a:pPr>
            <a:r>
              <a:rPr sz="1400" b="1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オージオグラム</a:t>
            </a:r>
          </a:p>
          <a:p>
            <a:pPr algn="ctr">
              <a:defRPr sz="1350" b="0">
                <a:solidFill>
                  <a:srgbClr val="374151"/>
                </a:solidFill>
                <a:latin typeface="Hiragino Sans"/>
                <a:ea typeface="Hiragino Sans"/>
                <a:cs typeface="Hiragino Sans"/>
              </a:defRPr>
            </a:pPr>
            <a:r>
              <a:rPr sz="1400" b="1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画面への提示</a:t>
            </a:r>
          </a:p>
        </p:txBody>
      </p:sp>
      <p:sp>
        <p:nvSpPr>
          <p:cNvPr id="33" name="learner-display-band">
            <a:extLst>
              <a:ext uri="{FF2B5EF4-FFF2-40B4-BE49-F238E27FC236}">
                <a16:creationId xmlns:a16="http://schemas.microsoft.com/office/drawing/2014/main" id="{3F1B27DC-6293-4A45-B326-EE3B7B415985}"/>
              </a:ext>
            </a:extLst>
          </p:cNvPr>
          <p:cNvSpPr>
            <a:spLocks noGrp="1"/>
          </p:cNvSpPr>
          <p:nvPr/>
        </p:nvSpPr>
        <p:spPr>
          <a:xfrm>
            <a:off x="1358752" y="3627031"/>
            <a:ext cx="9410700" cy="895350"/>
          </a:xfrm>
          <a:prstGeom prst="rect">
            <a:avLst/>
          </a:prstGeom>
          <a:solidFill>
            <a:srgbClr val="E7F5FC"/>
          </a:solidFill>
          <a:ln w="14288">
            <a:solidFill>
              <a:srgbClr val="6DCBF4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74A6E"/>
                </a:solidFill>
                <a:latin typeface="Hiragino Sans"/>
                <a:ea typeface="Hiragino Sans"/>
                <a:cs typeface="Hiragino Sans"/>
              </a:defRPr>
            </a:pPr>
            <a:r>
              <a:rPr sz="2000" b="1" dirty="0" err="1">
                <a:solidFill>
                  <a:srgbClr val="174A6E"/>
                </a:solidFill>
                <a:latin typeface="Hiragino Sans"/>
                <a:ea typeface="Hiragino Sans"/>
                <a:cs typeface="Hiragino Sans"/>
              </a:rPr>
              <a:t>学習者には生成条件を表示せず、測定終了後に正答を照合</a:t>
            </a:r>
            <a:endParaRPr sz="2000" b="1" dirty="0">
              <a:solidFill>
                <a:srgbClr val="174A6E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" name="learning-route-label">
            <a:extLst>
              <a:ext uri="{FF2B5EF4-FFF2-40B4-BE49-F238E27FC236}">
                <a16:creationId xmlns:a16="http://schemas.microsoft.com/office/drawing/2014/main" id="{407C7312-59B4-56ED-E9A8-F68A4599EFFF}"/>
              </a:ext>
            </a:extLst>
          </p:cNvPr>
          <p:cNvSpPr>
            <a:spLocks noGrp="1"/>
          </p:cNvSpPr>
          <p:nvPr/>
        </p:nvSpPr>
        <p:spPr>
          <a:xfrm>
            <a:off x="4622282" y="6101537"/>
            <a:ext cx="271971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2400" b="1" dirty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図1　教育用オージオグラムの自動生成フロー</a:t>
            </a:r>
            <a:r>
              <a:rPr lang="ja-JP" altLang="en-US"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/>
            </a:r>
            <a:endParaRPr sz="2400" b="1" dirty="0">
              <a:solidFill>
                <a:srgbClr val="111827"/>
              </a:solidFill>
              <a:latin typeface="Hiragino Sans"/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108106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3096E4F4-6CF4-1EB5-673D-814B4EEA879E}"/>
              </a:ext>
            </a:extLst>
          </p:cNvPr>
          <p:cNvGrpSpPr/>
          <p:nvPr/>
        </p:nvGrpSpPr>
        <p:grpSpPr>
          <a:xfrm>
            <a:off x="927415" y="212549"/>
            <a:ext cx="9795687" cy="5011932"/>
            <a:chOff x="342624" y="776075"/>
            <a:chExt cx="9795687" cy="5011932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EFC9D187-C39D-147B-8818-625B944F2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15944" y="776076"/>
              <a:ext cx="4422367" cy="451362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00AB754-7AC2-8633-60CC-A0D229B43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856"/>
            <a:stretch>
              <a:fillRect/>
            </a:stretch>
          </p:blipFill>
          <p:spPr>
            <a:xfrm>
              <a:off x="342624" y="776075"/>
              <a:ext cx="5196939" cy="451362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C0A45CA3-05A2-A1CA-8179-6D86776D13B6}"/>
                </a:ext>
              </a:extLst>
            </p:cNvPr>
            <p:cNvSpPr txBox="1"/>
            <p:nvPr/>
          </p:nvSpPr>
          <p:spPr>
            <a:xfrm>
              <a:off x="1222744" y="5387897"/>
              <a:ext cx="287290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ja-JP" sz="2000" dirty="0"/>
                <a:t>a</a:t>
              </a:r>
              <a:r>
                <a:rPr lang="ja-JP" altLang="en-US" sz="2000"/>
                <a:t>）聴力検査実行中画面</a:t>
              </a:r>
              <a:endParaRPr kumimoji="1" lang="ja-JP" altLang="en-US" sz="200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B48FDB86-EB7D-0949-7191-7138E76AC88E}"/>
                </a:ext>
              </a:extLst>
            </p:cNvPr>
            <p:cNvSpPr txBox="1"/>
            <p:nvPr/>
          </p:nvSpPr>
          <p:spPr>
            <a:xfrm>
              <a:off x="7212419" y="5387897"/>
              <a:ext cx="2114681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ja-JP" sz="2000" dirty="0"/>
                <a:t>b</a:t>
              </a:r>
              <a:r>
                <a:rPr lang="ja-JP" altLang="en-US" sz="2000"/>
                <a:t>）正答照合画面</a:t>
              </a:r>
              <a:endParaRPr kumimoji="1" lang="ja-JP" altLang="en-US" sz="2000"/>
            </a:p>
          </p:txBody>
        </p:sp>
      </p:grpSp>
      <p:sp>
        <p:nvSpPr>
          <p:cNvPr id="2" name="learning-route-label">
            <a:extLst>
              <a:ext uri="{FF2B5EF4-FFF2-40B4-BE49-F238E27FC236}">
                <a16:creationId xmlns:a16="http://schemas.microsoft.com/office/drawing/2014/main" id="{59DABE40-ED04-CF7F-5F58-535142AD19C5}"/>
              </a:ext>
            </a:extLst>
          </p:cNvPr>
          <p:cNvSpPr>
            <a:spLocks noGrp="1"/>
          </p:cNvSpPr>
          <p:nvPr/>
        </p:nvSpPr>
        <p:spPr>
          <a:xfrm>
            <a:off x="3864439" y="6368902"/>
            <a:ext cx="487259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2400" b="1" dirty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図2　AudioScope EDUのオージオグラム提示画面</a:t>
            </a:r>
            <a:r>
              <a:rPr lang="ja-JP" altLang="en-US"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/>
            </a:r>
            <a:r>
              <a:rPr lang="en-US" altLang="ja-JP" sz="2400" b="1" dirty="0" err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/>
            </a:r>
            <a:r>
              <a:rPr lang="en-US" altLang="ja-JP" sz="2400" b="1" dirty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/>
            </a:r>
            <a:r>
              <a:rPr lang="ja-JP" altLang="en-US"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/>
            </a:r>
            <a:endParaRPr sz="2400" b="1" dirty="0">
              <a:solidFill>
                <a:srgbClr val="111827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4" name="learning-route-label">
            <a:extLst>
              <a:ext uri="{FF2B5EF4-FFF2-40B4-BE49-F238E27FC236}">
                <a16:creationId xmlns:a16="http://schemas.microsoft.com/office/drawing/2014/main" id="{C9F8A205-9747-599F-42DA-AFE5078AF342}"/>
              </a:ext>
            </a:extLst>
          </p:cNvPr>
          <p:cNvSpPr>
            <a:spLocks noGrp="1"/>
          </p:cNvSpPr>
          <p:nvPr/>
        </p:nvSpPr>
        <p:spPr>
          <a:xfrm>
            <a:off x="927415" y="5465480"/>
            <a:ext cx="11027802" cy="9034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altLang="ja-JP" b="1" dirty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※</a:t>
            </a:r>
            <a:r>
              <a:rPr lang="ja-JP" altLang="en-US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 </a:t>
            </a:r>
            <a:r>
              <a:rPr lang="en-US" altLang="ja-JP" b="1" dirty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a) </a:t>
            </a:r>
            <a:r>
              <a:rPr lang="ja-JP" altLang="en-US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聴力検査実行中の画面で、検査周波数選択→カーソルなどで提示レベルを決める→閾値になると応答ランプ</a:t>
            </a:r>
            <a:endParaRPr lang="en-US" altLang="ja-JP" b="1" dirty="0">
              <a:solidFill>
                <a:srgbClr val="111827"/>
              </a:solidFill>
              <a:latin typeface="Hiragino Sans"/>
              <a:ea typeface="Hiragino Sans"/>
              <a:cs typeface="Hiragino Sans"/>
            </a:endParaRPr>
          </a:p>
          <a:p>
            <a:pPr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　　</a:t>
            </a:r>
            <a:r>
              <a:rPr lang="en-US" altLang="ja-JP" b="1" dirty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  </a:t>
            </a:r>
            <a:r>
              <a:rPr lang="ja-JP" altLang="en-US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が光る→患者応答があった（閾値）と学習者は認識できる。</a:t>
            </a:r>
            <a:endParaRPr lang="en-US" altLang="ja-JP" b="1" dirty="0">
              <a:solidFill>
                <a:srgbClr val="111827"/>
              </a:solidFill>
              <a:latin typeface="Hiragino Sans"/>
              <a:ea typeface="Hiragino Sans"/>
              <a:cs typeface="Hiragino Sans"/>
            </a:endParaRPr>
          </a:p>
          <a:p>
            <a:pPr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lang="ja-JP" altLang="en-US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　</a:t>
            </a:r>
            <a:r>
              <a:rPr lang="en-US" altLang="ja-JP" b="1" dirty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 b) </a:t>
            </a:r>
            <a:r>
              <a:rPr lang="ja-JP" altLang="en-US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検査が終了したら、正答照合ボタンを押すことで、自身の作成したオージオグラムと正答のオージオグラム</a:t>
            </a:r>
            <a:endParaRPr lang="en-US" altLang="ja-JP" b="1" dirty="0">
              <a:solidFill>
                <a:srgbClr val="111827"/>
              </a:solidFill>
              <a:latin typeface="Hiragino Sans"/>
              <a:ea typeface="Hiragino Sans"/>
              <a:cs typeface="Hiragino Sans"/>
            </a:endParaRPr>
          </a:p>
          <a:p>
            <a:pPr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altLang="ja-JP" b="1" dirty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  </a:t>
            </a:r>
            <a:r>
              <a:rPr lang="ja-JP" altLang="en-US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　　を比較できる</a:t>
            </a:r>
            <a:endParaRPr lang="en-US" altLang="ja-JP" b="1" dirty="0">
              <a:solidFill>
                <a:srgbClr val="111827"/>
              </a:solidFill>
              <a:latin typeface="Hiragino Sans"/>
              <a:ea typeface="Hiragino Sans"/>
              <a:cs typeface="Hiragino Sans"/>
            </a:endParaRPr>
          </a:p>
          <a:p>
            <a:pPr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endParaRPr b="1" dirty="0">
              <a:solidFill>
                <a:srgbClr val="111827"/>
              </a:solidFill>
              <a:latin typeface="Hiragino Sans"/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4104163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arning-route-label">
            <a:extLst>
              <a:ext uri="{FF2B5EF4-FFF2-40B4-BE49-F238E27FC236}">
                <a16:creationId xmlns:a16="http://schemas.microsoft.com/office/drawing/2014/main" id="{2E66015E-8F28-C5C8-4764-DF5F957E1EB3}"/>
              </a:ext>
            </a:extLst>
          </p:cNvPr>
          <p:cNvSpPr>
            <a:spLocks noGrp="1"/>
          </p:cNvSpPr>
          <p:nvPr/>
        </p:nvSpPr>
        <p:spPr>
          <a:xfrm>
            <a:off x="3468776" y="6276197"/>
            <a:ext cx="503581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2400" b="1" dirty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図3　自動生成した代表オージオグラム</a:t>
            </a:r>
            <a:r>
              <a:rPr lang="ja-JP" altLang="en-US"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/>
            </a:r>
            <a:endParaRPr sz="2400" b="1" dirty="0">
              <a:solidFill>
                <a:srgbClr val="111827"/>
              </a:solidFill>
              <a:latin typeface="Hiragino Sans"/>
              <a:ea typeface="Hiragino Sans"/>
              <a:cs typeface="Hiragino Sans"/>
            </a:endParaRPr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8B81AD7E-5C72-FA12-F8E2-8813F75BDBF6}"/>
              </a:ext>
            </a:extLst>
          </p:cNvPr>
          <p:cNvGrpSpPr/>
          <p:nvPr/>
        </p:nvGrpSpPr>
        <p:grpSpPr>
          <a:xfrm>
            <a:off x="509324" y="200767"/>
            <a:ext cx="10895092" cy="5850430"/>
            <a:chOff x="509324" y="200767"/>
            <a:chExt cx="10895092" cy="5850430"/>
          </a:xfrm>
        </p:grpSpPr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861BD7D3-6846-3E0C-7790-1FC102987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9610" y="225000"/>
              <a:ext cx="2675188" cy="2792521"/>
            </a:xfrm>
            <a:prstGeom prst="rect">
              <a:avLst/>
            </a:prstGeom>
          </p:spPr>
        </p:pic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C0FFDBDA-F636-F9C4-7258-01588378B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9324" y="3250598"/>
              <a:ext cx="2675188" cy="2792521"/>
            </a:xfrm>
            <a:prstGeom prst="rect">
              <a:avLst/>
            </a:prstGeom>
          </p:spPr>
        </p:pic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D6BCB2B3-1845-983C-7501-9A7608CB8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9228" y="3242520"/>
              <a:ext cx="2675188" cy="2792521"/>
            </a:xfrm>
            <a:prstGeom prst="rect">
              <a:avLst/>
            </a:prstGeom>
          </p:spPr>
        </p:pic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2CB22A23-C6D8-B247-5D3E-4481EAA93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539" y="225000"/>
              <a:ext cx="2675188" cy="2792521"/>
            </a:xfrm>
            <a:prstGeom prst="rect">
              <a:avLst/>
            </a:prstGeom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029F479C-41AF-B488-85B9-9EF2DEC15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4419" y="3242521"/>
              <a:ext cx="2675188" cy="2792521"/>
            </a:xfrm>
            <a:prstGeom prst="rect">
              <a:avLst/>
            </a:prstGeom>
          </p:spPr>
        </p:pic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245B70C3-137B-E924-381F-457AA83F4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9228" y="208845"/>
              <a:ext cx="2675188" cy="2792521"/>
            </a:xfrm>
            <a:prstGeom prst="rect">
              <a:avLst/>
            </a:prstGeom>
          </p:spPr>
        </p:pic>
        <p:pic>
          <p:nvPicPr>
            <p:cNvPr id="34" name="図 33">
              <a:extLst>
                <a:ext uri="{FF2B5EF4-FFF2-40B4-BE49-F238E27FC236}">
                  <a16:creationId xmlns:a16="http://schemas.microsoft.com/office/drawing/2014/main" id="{CAE5265E-85D5-804A-60E2-7EB4603EA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4133" y="3242521"/>
              <a:ext cx="2690665" cy="2808676"/>
            </a:xfrm>
            <a:prstGeom prst="rect">
              <a:avLst/>
            </a:prstGeom>
          </p:spPr>
        </p:pic>
        <p:pic>
          <p:nvPicPr>
            <p:cNvPr id="36" name="図 35">
              <a:extLst>
                <a:ext uri="{FF2B5EF4-FFF2-40B4-BE49-F238E27FC236}">
                  <a16:creationId xmlns:a16="http://schemas.microsoft.com/office/drawing/2014/main" id="{EFCC3836-6649-7782-11CD-D7ED32140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6681" y="200767"/>
              <a:ext cx="2690664" cy="2808676"/>
            </a:xfrm>
            <a:prstGeom prst="rect">
              <a:avLst/>
            </a:prstGeom>
          </p:spPr>
        </p:pic>
      </p:grpSp>
      <p:sp>
        <p:nvSpPr>
          <p:cNvPr id="38" name="TextBox 37"/>
          <p:cNvSpPr txBox="1"/>
          <p:nvPr/>
        </p:nvSpPr>
        <p:spPr>
          <a:xfrm>
            <a:off x="3259610" y="0"/>
            <a:ext cx="26751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2222"/>
                </a:solidFill>
              </a:defRPr>
            </a:pPr>
            <a:r>
              <a:t>b 滲出性中耳炎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9324" y="2994566"/>
            <a:ext cx="26751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2222"/>
                </a:solidFill>
              </a:defRPr>
            </a:pPr>
            <a:r>
              <a:t>e メニエール病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9228" y="2986488"/>
            <a:ext cx="26751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2222"/>
                </a:solidFill>
              </a:defRPr>
            </a:pPr>
            <a:r>
              <a:t>h 伝音難聴例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2539" y="0"/>
            <a:ext cx="26751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2222"/>
                </a:solidFill>
              </a:defRPr>
            </a:pPr>
            <a:r>
              <a:t>a 耳硬化症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94419" y="2986489"/>
            <a:ext cx="26751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2222"/>
                </a:solidFill>
              </a:defRPr>
            </a:pPr>
            <a:r>
              <a:t>g 急性中耳炎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29228" y="0"/>
            <a:ext cx="26751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2222"/>
                </a:solidFill>
              </a:defRPr>
            </a:pPr>
            <a:r>
              <a:t>d 騒音性難聴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4133" y="2986489"/>
            <a:ext cx="269066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2222"/>
                </a:solidFill>
              </a:defRPr>
            </a:pPr>
            <a:r>
              <a:t>f 突発性難聴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6681" y="0"/>
            <a:ext cx="26906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2222"/>
                </a:solidFill>
              </a:defRPr>
            </a:pPr>
            <a:r>
              <a:t>c 加齢性感音難聴</a:t>
            </a:r>
          </a:p>
        </p:txBody>
      </p:sp>
    </p:spTree>
    <p:extLst>
      <p:ext uri="{BB962C8B-B14F-4D97-AF65-F5344CB8AC3E}">
        <p14:creationId xmlns:p14="http://schemas.microsoft.com/office/powerpoint/2010/main" val="39919667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163</Words>
  <Application>Microsoft Macintosh PowerPoint</Application>
  <DocSecurity>0</DocSecurity>
  <PresentationFormat>ワイド画面</PresentationFormat>
  <Paragraphs>37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6" baseType="lpstr">
      <vt:lpstr>Hiragino Sans</vt:lpstr>
      <vt:lpstr>Calibri</vt:lpstr>
      <vt:lpstr>ChatGPT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maehide</cp:lastModifiedBy>
  <cp:revision>2</cp:revision>
  <dcterms:created xsi:type="dcterms:W3CDTF">2026-08-17T04:43:17Z</dcterms:created>
  <dcterms:modified xsi:type="dcterms:W3CDTF">2026-08-20T07:02:27Z</dcterms:modified>
</cp:coreProperties>
</file>