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algn="l" indent="0" marL="0">
              <a:buNone/>
            </a:pPr>
            <a:r>
              <a:rPr lang="en-US" sz="3200" b="1" dirty="0">
                <a:solidFill>
                  <a:srgbClr val="1F2937"/>
                </a:solidFill>
              </a:rPr>
              <a:t>スライド 1</a:t>
            </a:r>
            <a:endParaRPr lang="en-US" sz="3200" dirty="0"/>
          </a:p>
        </p:txBody>
      </p:sp>
      <p:sp>
        <p:nvSpPr>
          <p:cNvPr id="3" name="Text 1"/>
          <p:cNvSpPr/>
          <p:nvPr/>
        </p:nvSpPr>
        <p:spPr>
          <a:xfrm>
            <a:off x="731520" y="1645920"/>
            <a:ext cx="7680960" cy="457200"/>
          </a:xfrm>
          <a:prstGeom prst="rect">
            <a:avLst/>
          </a:prstGeom>
          <a:noFill/>
          <a:ln/>
        </p:spPr>
        <p:txBody>
          <a:bodyPr wrap="square" rtlCol="0" anchor="ctr"/>
          <a:lstStyle/>
          <a:p>
            <a:pPr algn="l" indent="0" marL="0">
              <a:buNone/>
            </a:pPr>
            <a:r>
              <a:rPr lang="en-US" sz="1600" dirty="0">
                <a:solidFill>
                  <a:srgbClr val="374151"/>
                </a:solidFill>
              </a:rPr>
              <a:t>AI聴覚シミュレーショントレーニング プレゼン資料</a:t>
            </a:r>
            <a:endParaRPr lang="en-US" sz="1600" dirty="0"/>
          </a:p>
        </p:txBody>
      </p:sp>
      <p:sp>
        <p:nvSpPr>
          <p:cNvPr id="4" name="Text 2"/>
          <p:cNvSpPr/>
          <p:nvPr/>
        </p:nvSpPr>
        <p:spPr>
          <a:xfrm>
            <a:off x="731520" y="2103120"/>
            <a:ext cx="7680960" cy="457200"/>
          </a:xfrm>
          <a:prstGeom prst="rect">
            <a:avLst/>
          </a:prstGeom>
          <a:noFill/>
          <a:ln/>
        </p:spPr>
        <p:txBody>
          <a:bodyPr wrap="square" rtlCol="0" anchor="ctr"/>
          <a:lstStyle/>
          <a:p>
            <a:pPr algn="l" indent="0" marL="0">
              <a:buNone/>
            </a:pPr>
            <a:r>
              <a:rPr lang="en-US" sz="1600" dirty="0">
                <a:solidFill>
                  <a:srgbClr val="374151"/>
                </a:solidFill>
              </a:rPr>
              <a:t>AI症例生成からマスキング判断までを一気通貫で学習するプラットフォーム</a:t>
            </a:r>
            <a:endParaRPr lang="en-US" sz="1600" dirty="0"/>
          </a:p>
        </p:txBody>
      </p:sp>
      <p:sp>
        <p:nvSpPr>
          <p:cNvPr id="5" name="Text 3"/>
          <p:cNvSpPr/>
          <p:nvPr/>
        </p:nvSpPr>
        <p:spPr>
          <a:xfrm>
            <a:off x="8778240" y="6217920"/>
            <a:ext cx="365760" cy="274320"/>
          </a:xfrm>
          <a:prstGeom prst="rect">
            <a:avLst/>
          </a:prstGeom>
          <a:noFill/>
          <a:ln/>
        </p:spPr>
        <p:txBody>
          <a:bodyPr wrap="square" rtlCol="0" anchor="ctr"/>
          <a:lstStyle/>
          <a:p>
            <a:pPr algn="r" indent="0" marL="0">
              <a:buNone/>
            </a:pPr>
            <a:r>
              <a:rPr lang="en-US" sz="1200" dirty="0">
                <a:solidFill>
                  <a:srgbClr val="94A3B8"/>
                </a:solidFill>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algn="l" indent="0" marL="0">
              <a:buNone/>
            </a:pPr>
            <a:r>
              <a:rPr lang="en-US" sz="3200" b="1" dirty="0">
                <a:solidFill>
                  <a:srgbClr val="1F2937"/>
                </a:solidFill>
              </a:rPr>
              <a:t>タイトル</a:t>
            </a:r>
            <a:endParaRPr lang="en-US" sz="3200" dirty="0"/>
          </a:p>
        </p:txBody>
      </p:sp>
      <p:sp>
        <p:nvSpPr>
          <p:cNvPr id="3" name="Text 1"/>
          <p:cNvSpPr/>
          <p:nvPr/>
        </p:nvSpPr>
        <p:spPr>
          <a:xfrm>
            <a:off x="731520" y="1645920"/>
            <a:ext cx="7680960" cy="457200"/>
          </a:xfrm>
          <a:prstGeom prst="rect">
            <a:avLst/>
          </a:prstGeom>
          <a:noFill/>
          <a:ln/>
        </p:spPr>
        <p:txBody>
          <a:bodyPr wrap="square" rtlCol="0" anchor="ctr"/>
          <a:lstStyle/>
          <a:p>
            <a:pPr algn="l" indent="0" marL="0">
              <a:buNone/>
            </a:pPr>
            <a:r>
              <a:rPr lang="en-US" sz="1600" dirty="0">
                <a:solidFill>
                  <a:srgbClr val="374151"/>
                </a:solidFill>
              </a:rPr>
              <a:t>タイトル</a:t>
            </a:r>
            <a:endParaRPr lang="en-US" sz="1600" dirty="0"/>
          </a:p>
        </p:txBody>
      </p:sp>
      <p:sp>
        <p:nvSpPr>
          <p:cNvPr id="4" name="Text 2"/>
          <p:cNvSpPr/>
          <p:nvPr/>
        </p:nvSpPr>
        <p:spPr>
          <a:xfrm>
            <a:off x="731520" y="2103120"/>
            <a:ext cx="7680960" cy="457200"/>
          </a:xfrm>
          <a:prstGeom prst="rect">
            <a:avLst/>
          </a:prstGeom>
          <a:noFill/>
          <a:ln/>
        </p:spPr>
        <p:txBody>
          <a:bodyPr wrap="square" rtlCol="0" anchor="ctr"/>
          <a:lstStyle/>
          <a:p>
            <a:pPr algn="l" indent="0" marL="0">
              <a:buNone/>
            </a:pPr>
            <a:r>
              <a:rPr lang="en-US" sz="1600" dirty="0">
                <a:solidFill>
                  <a:srgbClr val="374151"/>
                </a:solidFill>
              </a:rPr>
              <a:t>AI聴覚検査シミュレーション</a:t>
            </a:r>
            <a:endParaRPr lang="en-US" sz="1600" dirty="0"/>
          </a:p>
        </p:txBody>
      </p:sp>
      <p:sp>
        <p:nvSpPr>
          <p:cNvPr id="5" name="Text 3"/>
          <p:cNvSpPr/>
          <p:nvPr/>
        </p:nvSpPr>
        <p:spPr>
          <a:xfrm>
            <a:off x="731520" y="2560320"/>
            <a:ext cx="7680960" cy="457200"/>
          </a:xfrm>
          <a:prstGeom prst="rect">
            <a:avLst/>
          </a:prstGeom>
          <a:noFill/>
          <a:ln/>
        </p:spPr>
        <p:txBody>
          <a:bodyPr wrap="square" rtlCol="0" anchor="ctr"/>
          <a:lstStyle/>
          <a:p>
            <a:pPr algn="l" indent="0" marL="0">
              <a:buNone/>
            </a:pPr>
            <a:r>
              <a:rPr lang="en-US" sz="1600" dirty="0">
                <a:solidFill>
                  <a:srgbClr val="374151"/>
                </a:solidFill>
              </a:rPr>
              <a:t>自動症例生成からマスキング判断までの統合トレーニング</a:t>
            </a:r>
            <a:endParaRPr lang="en-US" sz="1600" dirty="0"/>
          </a:p>
        </p:txBody>
      </p:sp>
      <p:sp>
        <p:nvSpPr>
          <p:cNvPr id="6" name="Text 4"/>
          <p:cNvSpPr/>
          <p:nvPr/>
        </p:nvSpPr>
        <p:spPr>
          <a:xfrm>
            <a:off x="731520" y="3017520"/>
            <a:ext cx="7680960" cy="457200"/>
          </a:xfrm>
          <a:prstGeom prst="rect">
            <a:avLst/>
          </a:prstGeom>
          <a:noFill/>
          <a:ln/>
        </p:spPr>
        <p:txBody>
          <a:bodyPr wrap="square" rtlCol="0" anchor="ctr"/>
          <a:lstStyle/>
          <a:p>
            <a:pPr algn="l" indent="0" marL="0">
              <a:buNone/>
            </a:pPr>
            <a:r>
              <a:rPr lang="en-US" sz="1600" dirty="0">
                <a:solidFill>
                  <a:srgbClr val="374151"/>
                </a:solidFill>
              </a:rPr>
              <a:t>発表者：＿＿／所属：＿＿／日付：＿＿</a:t>
            </a:r>
            <a:endParaRPr lang="en-US" sz="1600" dirty="0"/>
          </a:p>
        </p:txBody>
      </p:sp>
      <p:sp>
        <p:nvSpPr>
          <p:cNvPr id="7" name="Text 5"/>
          <p:cNvSpPr/>
          <p:nvPr/>
        </p:nvSpPr>
        <p:spPr>
          <a:xfrm>
            <a:off x="8778240" y="6217920"/>
            <a:ext cx="365760" cy="274320"/>
          </a:xfrm>
          <a:prstGeom prst="rect">
            <a:avLst/>
          </a:prstGeom>
          <a:noFill/>
          <a:ln/>
        </p:spPr>
        <p:txBody>
          <a:bodyPr wrap="square" rtlCol="0" anchor="ctr"/>
          <a:lstStyle/>
          <a:p>
            <a:pPr algn="r" indent="0" marL="0">
              <a:buNone/>
            </a:pPr>
            <a:r>
              <a:rPr lang="en-US" sz="1200" dirty="0">
                <a:solidFill>
                  <a:srgbClr val="94A3B8"/>
                </a:solidFill>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algn="l" indent="0" marL="0">
              <a:buNone/>
            </a:pPr>
            <a:r>
              <a:rPr lang="en-US" sz="3200" b="1" dirty="0">
                <a:solidFill>
                  <a:srgbClr val="1F2937"/>
                </a:solidFill>
              </a:rPr>
              <a:t>ゴール</a:t>
            </a:r>
            <a:endParaRPr lang="en-US" sz="3200" dirty="0"/>
          </a:p>
        </p:txBody>
      </p:sp>
      <p:sp>
        <p:nvSpPr>
          <p:cNvPr id="3" name="Text 1"/>
          <p:cNvSpPr/>
          <p:nvPr/>
        </p:nvSpPr>
        <p:spPr>
          <a:xfrm>
            <a:off x="731520" y="1645920"/>
            <a:ext cx="7680960" cy="457200"/>
          </a:xfrm>
          <a:prstGeom prst="rect">
            <a:avLst/>
          </a:prstGeom>
          <a:noFill/>
          <a:ln/>
        </p:spPr>
        <p:txBody>
          <a:bodyPr wrap="square" rtlCol="0" anchor="ctr"/>
          <a:lstStyle/>
          <a:p>
            <a:pPr algn="l" indent="0" marL="0">
              <a:buNone/>
            </a:pPr>
            <a:r>
              <a:rPr lang="en-US" sz="1600" dirty="0">
                <a:solidFill>
                  <a:srgbClr val="374151"/>
                </a:solidFill>
              </a:rPr>
              <a:t>ゴール</a:t>
            </a:r>
            <a:endParaRPr lang="en-US" sz="1600" dirty="0"/>
          </a:p>
        </p:txBody>
      </p:sp>
      <p:sp>
        <p:nvSpPr>
          <p:cNvPr id="4" name="Text 2"/>
          <p:cNvSpPr/>
          <p:nvPr/>
        </p:nvSpPr>
        <p:spPr>
          <a:xfrm>
            <a:off x="731520" y="2103120"/>
            <a:ext cx="7680960" cy="457200"/>
          </a:xfrm>
          <a:prstGeom prst="rect">
            <a:avLst/>
          </a:prstGeom>
          <a:noFill/>
          <a:ln/>
        </p:spPr>
        <p:txBody>
          <a:bodyPr wrap="square" rtlCol="0" anchor="ctr"/>
          <a:lstStyle/>
          <a:p>
            <a:pPr algn="l" indent="0" marL="0">
              <a:buNone/>
            </a:pPr>
            <a:r>
              <a:rPr lang="en-US" sz="1600" dirty="0">
                <a:solidFill>
                  <a:srgbClr val="374151"/>
                </a:solidFill>
              </a:rPr>
              <a:t>本プレゼンで伝えること</a:t>
            </a:r>
            <a:endParaRPr lang="en-US" sz="1600" dirty="0"/>
          </a:p>
        </p:txBody>
      </p:sp>
      <p:sp>
        <p:nvSpPr>
          <p:cNvPr id="5" name="Text 3"/>
          <p:cNvSpPr/>
          <p:nvPr/>
        </p:nvSpPr>
        <p:spPr>
          <a:xfrm>
            <a:off x="731520" y="2560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AI が臨床ルール準拠の擬似症例を自動生成</a:t>
            </a:r>
            <a:endParaRPr lang="en-US" sz="1600" dirty="0"/>
          </a:p>
        </p:txBody>
      </p:sp>
      <p:sp>
        <p:nvSpPr>
          <p:cNvPr id="6" name="Text 4"/>
          <p:cNvSpPr/>
          <p:nvPr/>
        </p:nvSpPr>
        <p:spPr>
          <a:xfrm>
            <a:off x="731520" y="3017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AC/BC 測定→マスキング判定→結果照合までを模擬</a:t>
            </a:r>
            <a:endParaRPr lang="en-US" sz="1600" dirty="0"/>
          </a:p>
        </p:txBody>
      </p:sp>
      <p:sp>
        <p:nvSpPr>
          <p:cNvPr id="7" name="Text 5"/>
          <p:cNvSpPr/>
          <p:nvPr/>
        </p:nvSpPr>
        <p:spPr>
          <a:xfrm>
            <a:off x="731520" y="34747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クロスヒアリング／オーバーマスキング判断を反復学習</a:t>
            </a:r>
            <a:endParaRPr lang="en-US" sz="1600" dirty="0"/>
          </a:p>
        </p:txBody>
      </p:sp>
      <p:sp>
        <p:nvSpPr>
          <p:cNvPr id="8" name="Text 6"/>
          <p:cNvSpPr/>
          <p:nvPr/>
        </p:nvSpPr>
        <p:spPr>
          <a:xfrm>
            <a:off x="731520" y="3931920"/>
            <a:ext cx="7680960" cy="457200"/>
          </a:xfrm>
          <a:prstGeom prst="rect">
            <a:avLst/>
          </a:prstGeom>
          <a:noFill/>
          <a:ln/>
        </p:spPr>
        <p:txBody>
          <a:bodyPr wrap="square" rtlCol="0" anchor="ctr"/>
          <a:lstStyle/>
          <a:p>
            <a:pPr algn="l" indent="0" marL="0">
              <a:buNone/>
            </a:pPr>
            <a:r>
              <a:rPr lang="en-US" sz="1600" dirty="0">
                <a:solidFill>
                  <a:srgbClr val="374151"/>
                </a:solidFill>
              </a:rPr>
              <a:t>受講者の到達点</a:t>
            </a:r>
            <a:endParaRPr lang="en-US" sz="1600" dirty="0"/>
          </a:p>
        </p:txBody>
      </p:sp>
      <p:sp>
        <p:nvSpPr>
          <p:cNvPr id="9" name="Text 7"/>
          <p:cNvSpPr/>
          <p:nvPr/>
        </p:nvSpPr>
        <p:spPr>
          <a:xfrm>
            <a:off x="731520" y="43891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マスキング量設定の根拠を言語化できる</a:t>
            </a:r>
            <a:endParaRPr lang="en-US" sz="1600" dirty="0"/>
          </a:p>
        </p:txBody>
      </p:sp>
      <p:sp>
        <p:nvSpPr>
          <p:cNvPr id="10" name="Text 8"/>
          <p:cNvSpPr/>
          <p:nvPr/>
        </p:nvSpPr>
        <p:spPr>
          <a:xfrm>
            <a:off x="731520" y="4846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クロスヒアリング／オーバーマスキングの兆候を説明できる</a:t>
            </a:r>
            <a:endParaRPr lang="en-US" sz="1600" dirty="0"/>
          </a:p>
        </p:txBody>
      </p:sp>
      <p:sp>
        <p:nvSpPr>
          <p:cNvPr id="11" name="Text 9"/>
          <p:cNvSpPr/>
          <p:nvPr/>
        </p:nvSpPr>
        <p:spPr>
          <a:xfrm>
            <a:off x="731520" y="5303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結果照合とフィードバックの重要性を理解する</a:t>
            </a:r>
            <a:endParaRPr lang="en-US" sz="1600" dirty="0"/>
          </a:p>
        </p:txBody>
      </p:sp>
      <p:sp>
        <p:nvSpPr>
          <p:cNvPr id="12" name="Text 10"/>
          <p:cNvSpPr/>
          <p:nvPr/>
        </p:nvSpPr>
        <p:spPr>
          <a:xfrm>
            <a:off x="8778240" y="6217920"/>
            <a:ext cx="365760" cy="274320"/>
          </a:xfrm>
          <a:prstGeom prst="rect">
            <a:avLst/>
          </a:prstGeom>
          <a:noFill/>
          <a:ln/>
        </p:spPr>
        <p:txBody>
          <a:bodyPr wrap="square" rtlCol="0" anchor="ctr"/>
          <a:lstStyle/>
          <a:p>
            <a:pPr algn="r" indent="0" marL="0">
              <a:buNone/>
            </a:pPr>
            <a:r>
              <a:rPr lang="en-US" sz="1200" dirty="0">
                <a:solidFill>
                  <a:srgbClr val="94A3B8"/>
                </a:solidFill>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algn="l" indent="0" marL="0">
              <a:buNone/>
            </a:pPr>
            <a:r>
              <a:rPr lang="en-US" sz="3200" b="1" dirty="0">
                <a:solidFill>
                  <a:srgbClr val="1F2937"/>
                </a:solidFill>
              </a:rPr>
              <a:t>AI症例自動生成フロー</a:t>
            </a:r>
            <a:endParaRPr lang="en-US" sz="3200" dirty="0"/>
          </a:p>
        </p:txBody>
      </p:sp>
      <p:sp>
        <p:nvSpPr>
          <p:cNvPr id="3" name="Text 1"/>
          <p:cNvSpPr/>
          <p:nvPr/>
        </p:nvSpPr>
        <p:spPr>
          <a:xfrm>
            <a:off x="731520" y="1645920"/>
            <a:ext cx="7680960" cy="457200"/>
          </a:xfrm>
          <a:prstGeom prst="rect">
            <a:avLst/>
          </a:prstGeom>
          <a:noFill/>
          <a:ln/>
        </p:spPr>
        <p:txBody>
          <a:bodyPr wrap="square" rtlCol="0" anchor="ctr"/>
          <a:lstStyle/>
          <a:p>
            <a:pPr algn="l" indent="0" marL="0">
              <a:buNone/>
            </a:pPr>
            <a:r>
              <a:rPr lang="en-US" sz="1600" dirty="0">
                <a:solidFill>
                  <a:srgbClr val="374151"/>
                </a:solidFill>
              </a:rPr>
              <a:t>AI症例自動生成フロー</a:t>
            </a:r>
            <a:endParaRPr lang="en-US" sz="1600" dirty="0"/>
          </a:p>
        </p:txBody>
      </p:sp>
      <p:sp>
        <p:nvSpPr>
          <p:cNvPr id="4" name="Text 2"/>
          <p:cNvSpPr/>
          <p:nvPr/>
        </p:nvSpPr>
        <p:spPr>
          <a:xfrm>
            <a:off x="731520" y="2103120"/>
            <a:ext cx="7680960" cy="457200"/>
          </a:xfrm>
          <a:prstGeom prst="rect">
            <a:avLst/>
          </a:prstGeom>
          <a:noFill/>
          <a:ln/>
        </p:spPr>
        <p:txBody>
          <a:bodyPr wrap="square" rtlCol="0" anchor="ctr"/>
          <a:lstStyle/>
          <a:p>
            <a:pPr algn="l" indent="0" marL="0">
              <a:buNone/>
            </a:pPr>
            <a:r>
              <a:rPr lang="en-US" sz="1600" dirty="0">
                <a:solidFill>
                  <a:srgbClr val="374151"/>
                </a:solidFill>
              </a:rPr>
              <a:t>ステップ</a:t>
            </a:r>
            <a:endParaRPr lang="en-US" sz="1600" dirty="0"/>
          </a:p>
        </p:txBody>
      </p:sp>
      <p:sp>
        <p:nvSpPr>
          <p:cNvPr id="5" name="Text 3"/>
          <p:cNvSpPr/>
          <p:nvPr/>
        </p:nvSpPr>
        <p:spPr>
          <a:xfrm>
            <a:off x="731520" y="2560320"/>
            <a:ext cx="7680960" cy="457200"/>
          </a:xfrm>
          <a:prstGeom prst="rect">
            <a:avLst/>
          </a:prstGeom>
          <a:noFill/>
          <a:ln/>
        </p:spPr>
        <p:txBody>
          <a:bodyPr wrap="square" rtlCol="0" anchor="ctr"/>
          <a:lstStyle/>
          <a:p>
            <a:pPr algn="l" indent="0" marL="0">
              <a:buNone/>
            </a:pPr>
            <a:r>
              <a:rPr lang="en-US" sz="1600" dirty="0">
                <a:solidFill>
                  <a:srgbClr val="374151"/>
                </a:solidFill>
              </a:rPr>
              <a:t>1. profile選定（年齢・性別・疾患・重症度）</a:t>
            </a:r>
            <a:endParaRPr lang="en-US" sz="1600" dirty="0"/>
          </a:p>
        </p:txBody>
      </p:sp>
      <p:sp>
        <p:nvSpPr>
          <p:cNvPr id="6" name="Text 4"/>
          <p:cNvSpPr/>
          <p:nvPr/>
        </p:nvSpPr>
        <p:spPr>
          <a:xfrm>
            <a:off x="731520" y="3017520"/>
            <a:ext cx="7680960" cy="457200"/>
          </a:xfrm>
          <a:prstGeom prst="rect">
            <a:avLst/>
          </a:prstGeom>
          <a:noFill/>
          <a:ln/>
        </p:spPr>
        <p:txBody>
          <a:bodyPr wrap="square" rtlCol="0" anchor="ctr"/>
          <a:lstStyle/>
          <a:p>
            <a:pPr algn="l" indent="0" marL="0">
              <a:buNone/>
            </a:pPr>
            <a:r>
              <a:rPr lang="en-US" sz="1600" dirty="0">
                <a:solidFill>
                  <a:srgbClr val="374151"/>
                </a:solidFill>
              </a:rPr>
              <a:t>2. AC 初期値生成（ISO 正常値＋疾患プロファイル補正）</a:t>
            </a:r>
            <a:endParaRPr lang="en-US" sz="1600" dirty="0"/>
          </a:p>
        </p:txBody>
      </p:sp>
      <p:sp>
        <p:nvSpPr>
          <p:cNvPr id="7" name="Text 5"/>
          <p:cNvSpPr/>
          <p:nvPr/>
        </p:nvSpPr>
        <p:spPr>
          <a:xfrm>
            <a:off x="731520" y="3474720"/>
            <a:ext cx="7680960" cy="457200"/>
          </a:xfrm>
          <a:prstGeom prst="rect">
            <a:avLst/>
          </a:prstGeom>
          <a:noFill/>
          <a:ln/>
        </p:spPr>
        <p:txBody>
          <a:bodyPr wrap="square" rtlCol="0" anchor="ctr"/>
          <a:lstStyle/>
          <a:p>
            <a:pPr algn="l" indent="0" marL="0">
              <a:buNone/>
            </a:pPr>
            <a:r>
              <a:rPr lang="en-US" sz="1600" dirty="0">
                <a:solidFill>
                  <a:srgbClr val="374151"/>
                </a:solidFill>
              </a:rPr>
              <a:t>3. BC 生成（±6dB揺らぎ、ABG制約を想定）</a:t>
            </a:r>
            <a:endParaRPr lang="en-US" sz="1600" dirty="0"/>
          </a:p>
        </p:txBody>
      </p:sp>
      <p:sp>
        <p:nvSpPr>
          <p:cNvPr id="8" name="Text 6"/>
          <p:cNvSpPr/>
          <p:nvPr/>
        </p:nvSpPr>
        <p:spPr>
          <a:xfrm>
            <a:off x="731520" y="3931920"/>
            <a:ext cx="7680960" cy="457200"/>
          </a:xfrm>
          <a:prstGeom prst="rect">
            <a:avLst/>
          </a:prstGeom>
          <a:noFill/>
          <a:ln/>
        </p:spPr>
        <p:txBody>
          <a:bodyPr wrap="square" rtlCol="0" anchor="ctr"/>
          <a:lstStyle/>
          <a:p>
            <a:pPr algn="l" indent="0" marL="0">
              <a:buNone/>
            </a:pPr>
            <a:r>
              <a:rPr lang="en-US" sz="1600" dirty="0">
                <a:solidFill>
                  <a:srgbClr val="374151"/>
                </a:solidFill>
              </a:rPr>
              <a:t>4. 補助検査（Tym／ART／DPOAE）を病態ルールで自動設定</a:t>
            </a:r>
            <a:endParaRPr lang="en-US" sz="1600" dirty="0"/>
          </a:p>
        </p:txBody>
      </p:sp>
      <p:sp>
        <p:nvSpPr>
          <p:cNvPr id="9" name="Text 7"/>
          <p:cNvSpPr/>
          <p:nvPr/>
        </p:nvSpPr>
        <p:spPr>
          <a:xfrm>
            <a:off x="731520" y="4389120"/>
            <a:ext cx="7680960" cy="457200"/>
          </a:xfrm>
          <a:prstGeom prst="rect">
            <a:avLst/>
          </a:prstGeom>
          <a:noFill/>
          <a:ln/>
        </p:spPr>
        <p:txBody>
          <a:bodyPr wrap="square" rtlCol="0" anchor="ctr"/>
          <a:lstStyle/>
          <a:p>
            <a:pPr algn="l" indent="0" marL="0">
              <a:buNone/>
            </a:pPr>
            <a:r>
              <a:rPr lang="en-US" sz="1600" dirty="0">
                <a:solidFill>
                  <a:srgbClr val="374151"/>
                </a:solidFill>
              </a:rPr>
              <a:t>5. 整合性チェック（左右差、患側判定、マスキング要件）</a:t>
            </a:r>
            <a:endParaRPr lang="en-US" sz="1600" dirty="0"/>
          </a:p>
        </p:txBody>
      </p:sp>
      <p:sp>
        <p:nvSpPr>
          <p:cNvPr id="10" name="Text 8"/>
          <p:cNvSpPr/>
          <p:nvPr/>
        </p:nvSpPr>
        <p:spPr>
          <a:xfrm>
            <a:off x="731520" y="4846320"/>
            <a:ext cx="7680960" cy="457200"/>
          </a:xfrm>
          <a:prstGeom prst="rect">
            <a:avLst/>
          </a:prstGeom>
          <a:noFill/>
          <a:ln/>
        </p:spPr>
        <p:txBody>
          <a:bodyPr wrap="square" rtlCol="0" anchor="ctr"/>
          <a:lstStyle/>
          <a:p>
            <a:pPr algn="l" indent="0" marL="0">
              <a:buNone/>
            </a:pPr>
            <a:r>
              <a:rPr lang="en-US" sz="1600" dirty="0">
                <a:solidFill>
                  <a:srgbClr val="374151"/>
                </a:solidFill>
              </a:rPr>
              <a:t>特徴</a:t>
            </a:r>
            <a:endParaRPr lang="en-US" sz="1600" dirty="0"/>
          </a:p>
        </p:txBody>
      </p:sp>
      <p:sp>
        <p:nvSpPr>
          <p:cNvPr id="11" name="Text 9"/>
          <p:cNvSpPr/>
          <p:nvPr/>
        </p:nvSpPr>
        <p:spPr>
          <a:xfrm>
            <a:off x="731520" y="5303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実臨床に近いばらつきとルールを両立</a:t>
            </a:r>
            <a:endParaRPr lang="en-US" sz="1600" dirty="0"/>
          </a:p>
        </p:txBody>
      </p:sp>
      <p:sp>
        <p:nvSpPr>
          <p:cNvPr id="12" name="Text 10"/>
          <p:cNvSpPr/>
          <p:nvPr/>
        </p:nvSpPr>
        <p:spPr>
          <a:xfrm>
            <a:off x="731520" y="57607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病態ごとの補助検査結果が一貫している</a:t>
            </a:r>
            <a:endParaRPr lang="en-US" sz="1600" dirty="0"/>
          </a:p>
        </p:txBody>
      </p:sp>
      <p:sp>
        <p:nvSpPr>
          <p:cNvPr id="13" name="Text 11"/>
          <p:cNvSpPr/>
          <p:nvPr/>
        </p:nvSpPr>
        <p:spPr>
          <a:xfrm>
            <a:off x="731520" y="62179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症例データベースに依存せず無限生成</a:t>
            </a:r>
            <a:endParaRPr lang="en-US" sz="1600" dirty="0"/>
          </a:p>
        </p:txBody>
      </p:sp>
      <p:sp>
        <p:nvSpPr>
          <p:cNvPr id="14" name="Text 12"/>
          <p:cNvSpPr/>
          <p:nvPr/>
        </p:nvSpPr>
        <p:spPr>
          <a:xfrm>
            <a:off x="8778240" y="6217920"/>
            <a:ext cx="365760" cy="274320"/>
          </a:xfrm>
          <a:prstGeom prst="rect">
            <a:avLst/>
          </a:prstGeom>
          <a:noFill/>
          <a:ln/>
        </p:spPr>
        <p:txBody>
          <a:bodyPr wrap="square" rtlCol="0" anchor="ctr"/>
          <a:lstStyle/>
          <a:p>
            <a:pPr algn="r" indent="0" marL="0">
              <a:buNone/>
            </a:pPr>
            <a:r>
              <a:rPr lang="en-US" sz="1200" dirty="0">
                <a:solidFill>
                  <a:srgbClr val="94A3B8"/>
                </a:solidFill>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algn="l" indent="0" marL="0">
              <a:buNone/>
            </a:pPr>
            <a:r>
              <a:rPr lang="en-US" sz="3200" b="1" dirty="0">
                <a:solidFill>
                  <a:srgbClr val="1F2937"/>
                </a:solidFill>
              </a:rPr>
              <a:t>AC測定プロセス</a:t>
            </a:r>
            <a:endParaRPr lang="en-US" sz="3200" dirty="0"/>
          </a:p>
        </p:txBody>
      </p:sp>
      <p:sp>
        <p:nvSpPr>
          <p:cNvPr id="3" name="Text 1"/>
          <p:cNvSpPr/>
          <p:nvPr/>
        </p:nvSpPr>
        <p:spPr>
          <a:xfrm>
            <a:off x="731520" y="1645920"/>
            <a:ext cx="7680960" cy="457200"/>
          </a:xfrm>
          <a:prstGeom prst="rect">
            <a:avLst/>
          </a:prstGeom>
          <a:noFill/>
          <a:ln/>
        </p:spPr>
        <p:txBody>
          <a:bodyPr wrap="square" rtlCol="0" anchor="ctr"/>
          <a:lstStyle/>
          <a:p>
            <a:pPr algn="l" indent="0" marL="0">
              <a:buNone/>
            </a:pPr>
            <a:r>
              <a:rPr lang="en-US" sz="1600" dirty="0">
                <a:solidFill>
                  <a:srgbClr val="374151"/>
                </a:solidFill>
              </a:rPr>
              <a:t>AC測定プロセス</a:t>
            </a:r>
            <a:endParaRPr lang="en-US" sz="1600" dirty="0"/>
          </a:p>
        </p:txBody>
      </p:sp>
      <p:sp>
        <p:nvSpPr>
          <p:cNvPr id="4" name="Text 2"/>
          <p:cNvSpPr/>
          <p:nvPr/>
        </p:nvSpPr>
        <p:spPr>
          <a:xfrm>
            <a:off x="731520" y="2103120"/>
            <a:ext cx="7680960" cy="457200"/>
          </a:xfrm>
          <a:prstGeom prst="rect">
            <a:avLst/>
          </a:prstGeom>
          <a:noFill/>
          <a:ln/>
        </p:spPr>
        <p:txBody>
          <a:bodyPr wrap="square" rtlCol="0" anchor="ctr"/>
          <a:lstStyle/>
          <a:p>
            <a:pPr algn="l" indent="0" marL="0">
              <a:buNone/>
            </a:pPr>
            <a:r>
              <a:rPr lang="en-US" sz="1600" dirty="0">
                <a:solidFill>
                  <a:srgbClr val="374151"/>
                </a:solidFill>
              </a:rPr>
              <a:t>操作フロー</a:t>
            </a:r>
            <a:endParaRPr lang="en-US" sz="1600" dirty="0"/>
          </a:p>
        </p:txBody>
      </p:sp>
      <p:sp>
        <p:nvSpPr>
          <p:cNvPr id="5" name="Text 3"/>
          <p:cNvSpPr/>
          <p:nvPr/>
        </p:nvSpPr>
        <p:spPr>
          <a:xfrm>
            <a:off x="731520" y="2560320"/>
            <a:ext cx="7680960" cy="457200"/>
          </a:xfrm>
          <a:prstGeom prst="rect">
            <a:avLst/>
          </a:prstGeom>
          <a:noFill/>
          <a:ln/>
        </p:spPr>
        <p:txBody>
          <a:bodyPr wrap="square" rtlCol="0" anchor="ctr"/>
          <a:lstStyle/>
          <a:p>
            <a:pPr algn="l" indent="0" marL="0">
              <a:buNone/>
            </a:pPr>
            <a:r>
              <a:rPr lang="en-US" sz="1600" dirty="0">
                <a:solidFill>
                  <a:srgbClr val="374151"/>
                </a:solidFill>
              </a:rPr>
              <a:t>1. AI症例の AC 初期値を提示</a:t>
            </a:r>
            <a:endParaRPr lang="en-US" sz="1600" dirty="0"/>
          </a:p>
        </p:txBody>
      </p:sp>
      <p:sp>
        <p:nvSpPr>
          <p:cNvPr id="6" name="Text 4"/>
          <p:cNvSpPr/>
          <p:nvPr/>
        </p:nvSpPr>
        <p:spPr>
          <a:xfrm>
            <a:off x="731520" y="3017520"/>
            <a:ext cx="7680960" cy="457200"/>
          </a:xfrm>
          <a:prstGeom prst="rect">
            <a:avLst/>
          </a:prstGeom>
          <a:noFill/>
          <a:ln/>
        </p:spPr>
        <p:txBody>
          <a:bodyPr wrap="square" rtlCol="0" anchor="ctr"/>
          <a:lstStyle/>
          <a:p>
            <a:pPr algn="l" indent="0" marL="0">
              <a:buNone/>
            </a:pPr>
            <a:r>
              <a:rPr lang="en-US" sz="1600" dirty="0">
                <a:solidFill>
                  <a:srgbClr val="374151"/>
                </a:solidFill>
              </a:rPr>
              <a:t>2. 測定者が 5dB下降法で閾値を決定</a:t>
            </a:r>
            <a:endParaRPr lang="en-US" sz="1600" dirty="0"/>
          </a:p>
        </p:txBody>
      </p:sp>
      <p:sp>
        <p:nvSpPr>
          <p:cNvPr id="7" name="Text 5"/>
          <p:cNvSpPr/>
          <p:nvPr/>
        </p:nvSpPr>
        <p:spPr>
          <a:xfrm>
            <a:off x="731520" y="3474720"/>
            <a:ext cx="7680960" cy="457200"/>
          </a:xfrm>
          <a:prstGeom prst="rect">
            <a:avLst/>
          </a:prstGeom>
          <a:noFill/>
          <a:ln/>
        </p:spPr>
        <p:txBody>
          <a:bodyPr wrap="square" rtlCol="0" anchor="ctr"/>
          <a:lstStyle/>
          <a:p>
            <a:pPr algn="l" indent="0" marL="0">
              <a:buNone/>
            </a:pPr>
            <a:r>
              <a:rPr lang="en-US" sz="1600" dirty="0">
                <a:solidFill>
                  <a:srgbClr val="374151"/>
                </a:solidFill>
              </a:rPr>
              <a:t>3. 閾値仮決定→ログに記録→次周波数へ</a:t>
            </a:r>
            <a:endParaRPr lang="en-US" sz="1600" dirty="0"/>
          </a:p>
        </p:txBody>
      </p:sp>
      <p:sp>
        <p:nvSpPr>
          <p:cNvPr id="8" name="Text 6"/>
          <p:cNvSpPr/>
          <p:nvPr/>
        </p:nvSpPr>
        <p:spPr>
          <a:xfrm>
            <a:off x="731520" y="3931920"/>
            <a:ext cx="7680960" cy="457200"/>
          </a:xfrm>
          <a:prstGeom prst="rect">
            <a:avLst/>
          </a:prstGeom>
          <a:noFill/>
          <a:ln/>
        </p:spPr>
        <p:txBody>
          <a:bodyPr wrap="square" rtlCol="0" anchor="ctr"/>
          <a:lstStyle/>
          <a:p>
            <a:pPr algn="l" indent="0" marL="0">
              <a:buNone/>
            </a:pPr>
            <a:r>
              <a:rPr lang="en-US" sz="1600" dirty="0">
                <a:solidFill>
                  <a:srgbClr val="374151"/>
                </a:solidFill>
              </a:rPr>
              <a:t>ルール</a:t>
            </a:r>
            <a:endParaRPr lang="en-US" sz="1600" dirty="0"/>
          </a:p>
        </p:txBody>
      </p:sp>
      <p:sp>
        <p:nvSpPr>
          <p:cNvPr id="9" name="Text 7"/>
          <p:cNvSpPr/>
          <p:nvPr/>
        </p:nvSpPr>
        <p:spPr>
          <a:xfrm>
            <a:off x="731520" y="43891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ISO 基準に合わせた提示レベル範囲</a:t>
            </a:r>
            <a:endParaRPr lang="en-US" sz="1600" dirty="0"/>
          </a:p>
        </p:txBody>
      </p:sp>
      <p:sp>
        <p:nvSpPr>
          <p:cNvPr id="10" name="Text 8"/>
          <p:cNvSpPr/>
          <p:nvPr/>
        </p:nvSpPr>
        <p:spPr>
          <a:xfrm>
            <a:off x="731520" y="4846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Scale-Out 超過時は測定限界表示</a:t>
            </a:r>
            <a:endParaRPr lang="en-US" sz="1600" dirty="0"/>
          </a:p>
        </p:txBody>
      </p:sp>
      <p:sp>
        <p:nvSpPr>
          <p:cNvPr id="11" name="Text 9"/>
          <p:cNvSpPr/>
          <p:nvPr/>
        </p:nvSpPr>
        <p:spPr>
          <a:xfrm>
            <a:off x="731520" y="5303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左右差が大きくなり過ぎないようガード</a:t>
            </a:r>
            <a:endParaRPr lang="en-US" sz="1600" dirty="0"/>
          </a:p>
        </p:txBody>
      </p:sp>
      <p:sp>
        <p:nvSpPr>
          <p:cNvPr id="12" name="Text 10"/>
          <p:cNvSpPr/>
          <p:nvPr/>
        </p:nvSpPr>
        <p:spPr>
          <a:xfrm>
            <a:off x="8778240" y="6217920"/>
            <a:ext cx="365760" cy="274320"/>
          </a:xfrm>
          <a:prstGeom prst="rect">
            <a:avLst/>
          </a:prstGeom>
          <a:noFill/>
          <a:ln/>
        </p:spPr>
        <p:txBody>
          <a:bodyPr wrap="square" rtlCol="0" anchor="ctr"/>
          <a:lstStyle/>
          <a:p>
            <a:pPr algn="r" indent="0" marL="0">
              <a:buNone/>
            </a:pPr>
            <a:r>
              <a:rPr lang="en-US" sz="1200" dirty="0">
                <a:solidFill>
                  <a:srgbClr val="94A3B8"/>
                </a:solidFill>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algn="l" indent="0" marL="0">
              <a:buNone/>
            </a:pPr>
            <a:r>
              <a:rPr lang="en-US" sz="3200" b="1" dirty="0">
                <a:solidFill>
                  <a:srgbClr val="1F2937"/>
                </a:solidFill>
              </a:rPr>
              <a:t>BC測定 &amp; ABG管理</a:t>
            </a:r>
            <a:endParaRPr lang="en-US" sz="3200" dirty="0"/>
          </a:p>
        </p:txBody>
      </p:sp>
      <p:sp>
        <p:nvSpPr>
          <p:cNvPr id="3" name="Text 1"/>
          <p:cNvSpPr/>
          <p:nvPr/>
        </p:nvSpPr>
        <p:spPr>
          <a:xfrm>
            <a:off x="731520" y="1645920"/>
            <a:ext cx="7680960" cy="457200"/>
          </a:xfrm>
          <a:prstGeom prst="rect">
            <a:avLst/>
          </a:prstGeom>
          <a:noFill/>
          <a:ln/>
        </p:spPr>
        <p:txBody>
          <a:bodyPr wrap="square" rtlCol="0" anchor="ctr"/>
          <a:lstStyle/>
          <a:p>
            <a:pPr algn="l" indent="0" marL="0">
              <a:buNone/>
            </a:pPr>
            <a:r>
              <a:rPr lang="en-US" sz="1600" dirty="0">
                <a:solidFill>
                  <a:srgbClr val="374151"/>
                </a:solidFill>
              </a:rPr>
              <a:t>BC測定 &amp; ABG管理</a:t>
            </a:r>
            <a:endParaRPr lang="en-US" sz="1600" dirty="0"/>
          </a:p>
        </p:txBody>
      </p:sp>
      <p:sp>
        <p:nvSpPr>
          <p:cNvPr id="4" name="Text 2"/>
          <p:cNvSpPr/>
          <p:nvPr/>
        </p:nvSpPr>
        <p:spPr>
          <a:xfrm>
            <a:off x="731520" y="2103120"/>
            <a:ext cx="7680960" cy="457200"/>
          </a:xfrm>
          <a:prstGeom prst="rect">
            <a:avLst/>
          </a:prstGeom>
          <a:noFill/>
          <a:ln/>
        </p:spPr>
        <p:txBody>
          <a:bodyPr wrap="square" rtlCol="0" anchor="ctr"/>
          <a:lstStyle/>
          <a:p>
            <a:pPr algn="l" indent="0" marL="0">
              <a:buNone/>
            </a:pPr>
            <a:r>
              <a:rPr lang="en-US" sz="1600" dirty="0">
                <a:solidFill>
                  <a:srgbClr val="374151"/>
                </a:solidFill>
              </a:rPr>
              <a:t>BC値生成</a:t>
            </a:r>
            <a:endParaRPr lang="en-US" sz="1600" dirty="0"/>
          </a:p>
        </p:txBody>
      </p:sp>
      <p:sp>
        <p:nvSpPr>
          <p:cNvPr id="5" name="Text 3"/>
          <p:cNvSpPr/>
          <p:nvPr/>
        </p:nvSpPr>
        <p:spPr>
          <a:xfrm>
            <a:off x="731520" y="2560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ランダム揺らぎ（±6dB／5dB刻み）</a:t>
            </a:r>
            <a:endParaRPr lang="en-US" sz="1600" dirty="0"/>
          </a:p>
        </p:txBody>
      </p:sp>
      <p:sp>
        <p:nvSpPr>
          <p:cNvPr id="6" name="Text 4"/>
          <p:cNvSpPr/>
          <p:nvPr/>
        </p:nvSpPr>
        <p:spPr>
          <a:xfrm>
            <a:off x="731520" y="3017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伝音性の場合は最小 ABG を確保</a:t>
            </a:r>
            <a:endParaRPr lang="en-US" sz="1600" dirty="0"/>
          </a:p>
        </p:txBody>
      </p:sp>
      <p:sp>
        <p:nvSpPr>
          <p:cNvPr id="7" name="Text 5"/>
          <p:cNvSpPr/>
          <p:nvPr/>
        </p:nvSpPr>
        <p:spPr>
          <a:xfrm>
            <a:off x="731520" y="34747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正常・SNHL は -10dB ≤ AC-BC ≤ +5dB</a:t>
            </a:r>
            <a:endParaRPr lang="en-US" sz="1600" dirty="0"/>
          </a:p>
        </p:txBody>
      </p:sp>
      <p:sp>
        <p:nvSpPr>
          <p:cNvPr id="8" name="Text 6"/>
          <p:cNvSpPr/>
          <p:nvPr/>
        </p:nvSpPr>
        <p:spPr>
          <a:xfrm>
            <a:off x="731520" y="3931920"/>
            <a:ext cx="7680960" cy="457200"/>
          </a:xfrm>
          <a:prstGeom prst="rect">
            <a:avLst/>
          </a:prstGeom>
          <a:noFill/>
          <a:ln/>
        </p:spPr>
        <p:txBody>
          <a:bodyPr wrap="square" rtlCol="0" anchor="ctr"/>
          <a:lstStyle/>
          <a:p>
            <a:pPr algn="l" indent="0" marL="0">
              <a:buNone/>
            </a:pPr>
            <a:r>
              <a:rPr lang="en-US" sz="1600" dirty="0">
                <a:solidFill>
                  <a:srgbClr val="374151"/>
                </a:solidFill>
              </a:rPr>
              <a:t>測定時の確認ポイント</a:t>
            </a:r>
            <a:endParaRPr lang="en-US" sz="1600" dirty="0"/>
          </a:p>
        </p:txBody>
      </p:sp>
      <p:sp>
        <p:nvSpPr>
          <p:cNvPr id="9" name="Text 7"/>
          <p:cNvSpPr/>
          <p:nvPr/>
        </p:nvSpPr>
        <p:spPr>
          <a:xfrm>
            <a:off x="731520" y="43891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仮閾値と AC の差から ABG を算出</a:t>
            </a:r>
            <a:endParaRPr lang="en-US" sz="1600" dirty="0"/>
          </a:p>
        </p:txBody>
      </p:sp>
      <p:sp>
        <p:nvSpPr>
          <p:cNvPr id="10" name="Text 8"/>
          <p:cNvSpPr/>
          <p:nvPr/>
        </p:nvSpPr>
        <p:spPr>
          <a:xfrm>
            <a:off x="731520" y="4846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最小 ABG未満なら AC を補正</a:t>
            </a:r>
            <a:endParaRPr lang="en-US" sz="1600" dirty="0"/>
          </a:p>
        </p:txBody>
      </p:sp>
      <p:sp>
        <p:nvSpPr>
          <p:cNvPr id="11" name="Text 9"/>
          <p:cNvSpPr/>
          <p:nvPr/>
        </p:nvSpPr>
        <p:spPr>
          <a:xfrm>
            <a:off x="731520" y="5303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- 40dB 超の ABG は自動的に抑制</a:t>
            </a:r>
            <a:endParaRPr lang="en-US" sz="1600" dirty="0"/>
          </a:p>
        </p:txBody>
      </p:sp>
      <p:sp>
        <p:nvSpPr>
          <p:cNvPr id="12" name="Text 10"/>
          <p:cNvSpPr/>
          <p:nvPr/>
        </p:nvSpPr>
        <p:spPr>
          <a:xfrm>
            <a:off x="8778240" y="6217920"/>
            <a:ext cx="365760" cy="274320"/>
          </a:xfrm>
          <a:prstGeom prst="rect">
            <a:avLst/>
          </a:prstGeom>
          <a:noFill/>
          <a:ln/>
        </p:spPr>
        <p:txBody>
          <a:bodyPr wrap="square" rtlCol="0" anchor="ctr"/>
          <a:lstStyle/>
          <a:p>
            <a:pPr algn="r" indent="0" marL="0">
              <a:buNone/>
            </a:pPr>
            <a:r>
              <a:rPr lang="en-US" sz="1200" dirty="0">
                <a:solidFill>
                  <a:srgbClr val="94A3B8"/>
                </a:solidFill>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algn="l" indent="0" marL="0">
              <a:buNone/>
            </a:pPr>
            <a:r>
              <a:rPr lang="en-US" sz="3200" b="1" dirty="0">
                <a:solidFill>
                  <a:srgbClr val="1F2937"/>
                </a:solidFill>
              </a:rPr>
              <a:t>マスキング要否判定ロジック</a:t>
            </a:r>
            <a:endParaRPr lang="en-US" sz="3200" dirty="0"/>
          </a:p>
        </p:txBody>
      </p:sp>
      <p:sp>
        <p:nvSpPr>
          <p:cNvPr id="3" name="Text 1"/>
          <p:cNvSpPr/>
          <p:nvPr/>
        </p:nvSpPr>
        <p:spPr>
          <a:xfrm>
            <a:off x="731520" y="1645920"/>
            <a:ext cx="7680960" cy="457200"/>
          </a:xfrm>
          <a:prstGeom prst="rect">
            <a:avLst/>
          </a:prstGeom>
          <a:noFill/>
          <a:ln/>
        </p:spPr>
        <p:txBody>
          <a:bodyPr wrap="square" rtlCol="0" anchor="ctr"/>
          <a:lstStyle/>
          <a:p>
            <a:pPr algn="l" indent="0" marL="0">
              <a:buNone/>
            </a:pPr>
            <a:r>
              <a:rPr lang="en-US" sz="1600" dirty="0">
                <a:solidFill>
                  <a:srgbClr val="374151"/>
                </a:solidFill>
              </a:rPr>
              <a:t>マスキング要否判定ロジック</a:t>
            </a:r>
            <a:endParaRPr lang="en-US" sz="1600" dirty="0"/>
          </a:p>
        </p:txBody>
      </p:sp>
      <p:sp>
        <p:nvSpPr>
          <p:cNvPr id="4" name="Text 2"/>
          <p:cNvSpPr/>
          <p:nvPr/>
        </p:nvSpPr>
        <p:spPr>
          <a:xfrm>
            <a:off x="731520" y="2103120"/>
            <a:ext cx="7680960" cy="457200"/>
          </a:xfrm>
          <a:prstGeom prst="rect">
            <a:avLst/>
          </a:prstGeom>
          <a:noFill/>
          <a:ln/>
        </p:spPr>
        <p:txBody>
          <a:bodyPr wrap="square" rtlCol="0" anchor="ctr"/>
          <a:lstStyle/>
          <a:p>
            <a:pPr algn="l" indent="0" marL="0">
              <a:buNone/>
            </a:pPr>
            <a:r>
              <a:rPr lang="en-US" sz="1600" dirty="0">
                <a:solidFill>
                  <a:srgbClr val="374151"/>
                </a:solidFill>
              </a:rPr>
              <a:t>条件評価</a:t>
            </a:r>
            <a:endParaRPr lang="en-US" sz="1600" dirty="0"/>
          </a:p>
        </p:txBody>
      </p:sp>
      <p:sp>
        <p:nvSpPr>
          <p:cNvPr id="5" name="Text 3"/>
          <p:cNvSpPr/>
          <p:nvPr/>
        </p:nvSpPr>
        <p:spPr>
          <a:xfrm>
            <a:off x="731520" y="2560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ABG が疾患別最小値以上</a:t>
            </a:r>
            <a:endParaRPr lang="en-US" sz="1600" dirty="0"/>
          </a:p>
        </p:txBody>
      </p:sp>
      <p:sp>
        <p:nvSpPr>
          <p:cNvPr id="6" name="Text 4"/>
          <p:cNvSpPr/>
          <p:nvPr/>
        </p:nvSpPr>
        <p:spPr>
          <a:xfrm>
            <a:off x="731520" y="3017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左右差が IA を超える見込み</a:t>
            </a:r>
            <a:endParaRPr lang="en-US" sz="1600" dirty="0"/>
          </a:p>
        </p:txBody>
      </p:sp>
      <p:sp>
        <p:nvSpPr>
          <p:cNvPr id="7" name="Text 5"/>
          <p:cNvSpPr/>
          <p:nvPr/>
        </p:nvSpPr>
        <p:spPr>
          <a:xfrm>
            <a:off x="731520" y="34747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テスト耳の閾値がマスキングノイズで覆われないか確認</a:t>
            </a:r>
            <a:endParaRPr lang="en-US" sz="1600" dirty="0"/>
          </a:p>
        </p:txBody>
      </p:sp>
      <p:sp>
        <p:nvSpPr>
          <p:cNvPr id="8" name="Text 6"/>
          <p:cNvSpPr/>
          <p:nvPr/>
        </p:nvSpPr>
        <p:spPr>
          <a:xfrm>
            <a:off x="731520" y="3931920"/>
            <a:ext cx="7680960" cy="457200"/>
          </a:xfrm>
          <a:prstGeom prst="rect">
            <a:avLst/>
          </a:prstGeom>
          <a:noFill/>
          <a:ln/>
        </p:spPr>
        <p:txBody>
          <a:bodyPr wrap="square" rtlCol="0" anchor="ctr"/>
          <a:lstStyle/>
          <a:p>
            <a:pPr algn="l" indent="0" marL="0">
              <a:buNone/>
            </a:pPr>
            <a:r>
              <a:rPr lang="en-US" sz="1600" dirty="0">
                <a:solidFill>
                  <a:srgbClr val="374151"/>
                </a:solidFill>
              </a:rPr>
              <a:t>システムのサポート</a:t>
            </a:r>
            <a:endParaRPr lang="en-US" sz="1600" dirty="0"/>
          </a:p>
        </p:txBody>
      </p:sp>
      <p:sp>
        <p:nvSpPr>
          <p:cNvPr id="9" name="Text 7"/>
          <p:cNvSpPr/>
          <p:nvPr/>
        </p:nvSpPr>
        <p:spPr>
          <a:xfrm>
            <a:off x="731520" y="43891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条件を満たす周波数をハイライト</a:t>
            </a:r>
            <a:endParaRPr lang="en-US" sz="1600" dirty="0"/>
          </a:p>
        </p:txBody>
      </p:sp>
      <p:sp>
        <p:nvSpPr>
          <p:cNvPr id="10" name="Text 8"/>
          <p:cNvSpPr/>
          <p:nvPr/>
        </p:nvSpPr>
        <p:spPr>
          <a:xfrm>
            <a:off x="731520" y="4846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必要なマスキング操作を指示</a:t>
            </a:r>
            <a:endParaRPr lang="en-US" sz="1600" dirty="0"/>
          </a:p>
        </p:txBody>
      </p:sp>
      <p:sp>
        <p:nvSpPr>
          <p:cNvPr id="11" name="Text 9"/>
          <p:cNvSpPr/>
          <p:nvPr/>
        </p:nvSpPr>
        <p:spPr>
          <a:xfrm>
            <a:off x="731520" y="5303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判定根拠をツールチップで提示</a:t>
            </a:r>
            <a:endParaRPr lang="en-US" sz="1600" dirty="0"/>
          </a:p>
        </p:txBody>
      </p:sp>
      <p:sp>
        <p:nvSpPr>
          <p:cNvPr id="12" name="Text 10"/>
          <p:cNvSpPr/>
          <p:nvPr/>
        </p:nvSpPr>
        <p:spPr>
          <a:xfrm>
            <a:off x="8778240" y="6217920"/>
            <a:ext cx="365760" cy="274320"/>
          </a:xfrm>
          <a:prstGeom prst="rect">
            <a:avLst/>
          </a:prstGeom>
          <a:noFill/>
          <a:ln/>
        </p:spPr>
        <p:txBody>
          <a:bodyPr wrap="square" rtlCol="0" anchor="ctr"/>
          <a:lstStyle/>
          <a:p>
            <a:pPr algn="r" indent="0" marL="0">
              <a:buNone/>
            </a:pPr>
            <a:r>
              <a:rPr lang="en-US" sz="1200" dirty="0">
                <a:solidFill>
                  <a:srgbClr val="94A3B8"/>
                </a:solidFill>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algn="l" indent="0" marL="0">
              <a:buNone/>
            </a:pPr>
            <a:r>
              <a:rPr lang="en-US" sz="3200" b="1" dirty="0">
                <a:solidFill>
                  <a:srgbClr val="1F2937"/>
                </a:solidFill>
              </a:rPr>
              <a:t>マスキング量算出</a:t>
            </a:r>
            <a:endParaRPr lang="en-US" sz="3200" dirty="0"/>
          </a:p>
        </p:txBody>
      </p:sp>
      <p:sp>
        <p:nvSpPr>
          <p:cNvPr id="3" name="Text 1"/>
          <p:cNvSpPr/>
          <p:nvPr/>
        </p:nvSpPr>
        <p:spPr>
          <a:xfrm>
            <a:off x="731520" y="1645920"/>
            <a:ext cx="7680960" cy="457200"/>
          </a:xfrm>
          <a:prstGeom prst="rect">
            <a:avLst/>
          </a:prstGeom>
          <a:noFill/>
          <a:ln/>
        </p:spPr>
        <p:txBody>
          <a:bodyPr wrap="square" rtlCol="0" anchor="ctr"/>
          <a:lstStyle/>
          <a:p>
            <a:pPr algn="l" indent="0" marL="0">
              <a:buNone/>
            </a:pPr>
            <a:r>
              <a:rPr lang="en-US" sz="1600" dirty="0">
                <a:solidFill>
                  <a:srgbClr val="374151"/>
                </a:solidFill>
              </a:rPr>
              <a:t>マスキング量算出</a:t>
            </a:r>
            <a:endParaRPr lang="en-US" sz="1600" dirty="0"/>
          </a:p>
        </p:txBody>
      </p:sp>
      <p:sp>
        <p:nvSpPr>
          <p:cNvPr id="4" name="Text 2"/>
          <p:cNvSpPr/>
          <p:nvPr/>
        </p:nvSpPr>
        <p:spPr>
          <a:xfrm>
            <a:off x="731520" y="2103120"/>
            <a:ext cx="7680960" cy="457200"/>
          </a:xfrm>
          <a:prstGeom prst="rect">
            <a:avLst/>
          </a:prstGeom>
          <a:noFill/>
          <a:ln/>
        </p:spPr>
        <p:txBody>
          <a:bodyPr wrap="square" rtlCol="0" anchor="ctr"/>
          <a:lstStyle/>
          <a:p>
            <a:pPr algn="l" indent="0" marL="0">
              <a:buNone/>
            </a:pPr>
            <a:r>
              <a:rPr lang="en-US" sz="1600" dirty="0">
                <a:solidFill>
                  <a:srgbClr val="374151"/>
                </a:solidFill>
              </a:rPr>
              <a:t>推奨計算</a:t>
            </a:r>
            <a:endParaRPr lang="en-US" sz="1600" dirty="0"/>
          </a:p>
        </p:txBody>
      </p:sp>
      <p:sp>
        <p:nvSpPr>
          <p:cNvPr id="5" name="Text 3"/>
          <p:cNvSpPr/>
          <p:nvPr/>
        </p:nvSpPr>
        <p:spPr>
          <a:xfrm>
            <a:off x="731520" y="2560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気導：TE AC + セーフティマージン - IA</a:t>
            </a:r>
            <a:endParaRPr lang="en-US" sz="1600" dirty="0"/>
          </a:p>
        </p:txBody>
      </p:sp>
      <p:sp>
        <p:nvSpPr>
          <p:cNvPr id="6" name="Text 4"/>
          <p:cNvSpPr/>
          <p:nvPr/>
        </p:nvSpPr>
        <p:spPr>
          <a:xfrm>
            <a:off x="731520" y="3017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骨導：TE BC + セーフティマージン</a:t>
            </a:r>
            <a:endParaRPr lang="en-US" sz="1600" dirty="0"/>
          </a:p>
        </p:txBody>
      </p:sp>
      <p:sp>
        <p:nvSpPr>
          <p:cNvPr id="7" name="Text 5"/>
          <p:cNvSpPr/>
          <p:nvPr/>
        </p:nvSpPr>
        <p:spPr>
          <a:xfrm>
            <a:off x="731520" y="34747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セーフティマージンは 10dB を基本</a:t>
            </a:r>
            <a:endParaRPr lang="en-US" sz="1600" dirty="0"/>
          </a:p>
        </p:txBody>
      </p:sp>
      <p:sp>
        <p:nvSpPr>
          <p:cNvPr id="8" name="Text 6"/>
          <p:cNvSpPr/>
          <p:nvPr/>
        </p:nvSpPr>
        <p:spPr>
          <a:xfrm>
            <a:off x="731520" y="3931920"/>
            <a:ext cx="7680960" cy="457200"/>
          </a:xfrm>
          <a:prstGeom prst="rect">
            <a:avLst/>
          </a:prstGeom>
          <a:noFill/>
          <a:ln/>
        </p:spPr>
        <p:txBody>
          <a:bodyPr wrap="square" rtlCol="0" anchor="ctr"/>
          <a:lstStyle/>
          <a:p>
            <a:pPr algn="l" indent="0" marL="0">
              <a:buNone/>
            </a:pPr>
            <a:r>
              <a:rPr lang="en-US" sz="1600" dirty="0">
                <a:solidFill>
                  <a:srgbClr val="374151"/>
                </a:solidFill>
              </a:rPr>
              <a:t>アプリでの表示</a:t>
            </a:r>
            <a:endParaRPr lang="en-US" sz="1600" dirty="0"/>
          </a:p>
        </p:txBody>
      </p:sp>
      <p:sp>
        <p:nvSpPr>
          <p:cNvPr id="9" name="Text 7"/>
          <p:cNvSpPr/>
          <p:nvPr/>
        </p:nvSpPr>
        <p:spPr>
          <a:xfrm>
            <a:off x="731520" y="43891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推奨値と設定欄を並列表示</a:t>
            </a:r>
            <a:endParaRPr lang="en-US" sz="1600" dirty="0"/>
          </a:p>
        </p:txBody>
      </p:sp>
      <p:sp>
        <p:nvSpPr>
          <p:cNvPr id="10" name="Text 8"/>
          <p:cNvSpPr/>
          <p:nvPr/>
        </p:nvSpPr>
        <p:spPr>
          <a:xfrm>
            <a:off x="731520" y="4846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入力値と推奨値の差をリアルタイムに判定</a:t>
            </a:r>
            <a:endParaRPr lang="en-US" sz="1600" dirty="0"/>
          </a:p>
        </p:txBody>
      </p:sp>
      <p:sp>
        <p:nvSpPr>
          <p:cNvPr id="11" name="Text 9"/>
          <p:cNvSpPr/>
          <p:nvPr/>
        </p:nvSpPr>
        <p:spPr>
          <a:xfrm>
            <a:off x="731520" y="5303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適正範囲／過小／過大を色分け</a:t>
            </a:r>
            <a:endParaRPr lang="en-US" sz="1600" dirty="0"/>
          </a:p>
        </p:txBody>
      </p:sp>
      <p:sp>
        <p:nvSpPr>
          <p:cNvPr id="12" name="Text 10"/>
          <p:cNvSpPr/>
          <p:nvPr/>
        </p:nvSpPr>
        <p:spPr>
          <a:xfrm>
            <a:off x="8778240" y="6217920"/>
            <a:ext cx="365760" cy="274320"/>
          </a:xfrm>
          <a:prstGeom prst="rect">
            <a:avLst/>
          </a:prstGeom>
          <a:noFill/>
          <a:ln/>
        </p:spPr>
        <p:txBody>
          <a:bodyPr wrap="square" rtlCol="0" anchor="ctr"/>
          <a:lstStyle/>
          <a:p>
            <a:pPr algn="r" indent="0" marL="0">
              <a:buNone/>
            </a:pPr>
            <a:r>
              <a:rPr lang="en-US" sz="1200" dirty="0">
                <a:solidFill>
                  <a:srgbClr val="94A3B8"/>
                </a:solidFill>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algn="l" indent="0" marL="0">
              <a:buNone/>
            </a:pPr>
            <a:r>
              <a:rPr lang="en-US" sz="3200" b="1" dirty="0">
                <a:solidFill>
                  <a:srgbClr val="1F2937"/>
                </a:solidFill>
              </a:rPr>
              <a:t>クロスヒアリング監視</a:t>
            </a:r>
            <a:endParaRPr lang="en-US" sz="3200" dirty="0"/>
          </a:p>
        </p:txBody>
      </p:sp>
      <p:sp>
        <p:nvSpPr>
          <p:cNvPr id="3" name="Text 1"/>
          <p:cNvSpPr/>
          <p:nvPr/>
        </p:nvSpPr>
        <p:spPr>
          <a:xfrm>
            <a:off x="731520" y="1645920"/>
            <a:ext cx="7680960" cy="457200"/>
          </a:xfrm>
          <a:prstGeom prst="rect">
            <a:avLst/>
          </a:prstGeom>
          <a:noFill/>
          <a:ln/>
        </p:spPr>
        <p:txBody>
          <a:bodyPr wrap="square" rtlCol="0" anchor="ctr"/>
          <a:lstStyle/>
          <a:p>
            <a:pPr algn="l" indent="0" marL="0">
              <a:buNone/>
            </a:pPr>
            <a:r>
              <a:rPr lang="en-US" sz="1600" dirty="0">
                <a:solidFill>
                  <a:srgbClr val="374151"/>
                </a:solidFill>
              </a:rPr>
              <a:t>クロスヒアリング監視</a:t>
            </a:r>
            <a:endParaRPr lang="en-US" sz="1600" dirty="0"/>
          </a:p>
        </p:txBody>
      </p:sp>
      <p:sp>
        <p:nvSpPr>
          <p:cNvPr id="4" name="Text 2"/>
          <p:cNvSpPr/>
          <p:nvPr/>
        </p:nvSpPr>
        <p:spPr>
          <a:xfrm>
            <a:off x="731520" y="2103120"/>
            <a:ext cx="7680960" cy="457200"/>
          </a:xfrm>
          <a:prstGeom prst="rect">
            <a:avLst/>
          </a:prstGeom>
          <a:noFill/>
          <a:ln/>
        </p:spPr>
        <p:txBody>
          <a:bodyPr wrap="square" rtlCol="0" anchor="ctr"/>
          <a:lstStyle/>
          <a:p>
            <a:pPr algn="l" indent="0" marL="0">
              <a:buNone/>
            </a:pPr>
            <a:r>
              <a:rPr lang="en-US" sz="1600" dirty="0">
                <a:solidFill>
                  <a:srgbClr val="374151"/>
                </a:solidFill>
              </a:rPr>
              <a:t>監視ポイント</a:t>
            </a:r>
            <a:endParaRPr lang="en-US" sz="1600" dirty="0"/>
          </a:p>
        </p:txBody>
      </p:sp>
      <p:sp>
        <p:nvSpPr>
          <p:cNvPr id="5" name="Text 3"/>
          <p:cNvSpPr/>
          <p:nvPr/>
        </p:nvSpPr>
        <p:spPr>
          <a:xfrm>
            <a:off x="731520" y="2560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マスキング下で意図しない応答がないか</a:t>
            </a:r>
            <a:endParaRPr lang="en-US" sz="1600" dirty="0"/>
          </a:p>
        </p:txBody>
      </p:sp>
      <p:sp>
        <p:nvSpPr>
          <p:cNvPr id="6" name="Text 4"/>
          <p:cNvSpPr/>
          <p:nvPr/>
        </p:nvSpPr>
        <p:spPr>
          <a:xfrm>
            <a:off x="731520" y="3017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対側閾値との関係から cross-check</a:t>
            </a:r>
            <a:endParaRPr lang="en-US" sz="1600" dirty="0"/>
          </a:p>
        </p:txBody>
      </p:sp>
      <p:sp>
        <p:nvSpPr>
          <p:cNvPr id="7" name="Text 5"/>
          <p:cNvSpPr/>
          <p:nvPr/>
        </p:nvSpPr>
        <p:spPr>
          <a:xfrm>
            <a:off x="731520" y="34747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BC 測定時の反対耳への伝播に注意</a:t>
            </a:r>
            <a:endParaRPr lang="en-US" sz="1600" dirty="0"/>
          </a:p>
        </p:txBody>
      </p:sp>
      <p:sp>
        <p:nvSpPr>
          <p:cNvPr id="8" name="Text 6"/>
          <p:cNvSpPr/>
          <p:nvPr/>
        </p:nvSpPr>
        <p:spPr>
          <a:xfrm>
            <a:off x="731520" y="3931920"/>
            <a:ext cx="7680960" cy="457200"/>
          </a:xfrm>
          <a:prstGeom prst="rect">
            <a:avLst/>
          </a:prstGeom>
          <a:noFill/>
          <a:ln/>
        </p:spPr>
        <p:txBody>
          <a:bodyPr wrap="square" rtlCol="0" anchor="ctr"/>
          <a:lstStyle/>
          <a:p>
            <a:pPr algn="l" indent="0" marL="0">
              <a:buNone/>
            </a:pPr>
            <a:r>
              <a:rPr lang="en-US" sz="1600" dirty="0">
                <a:solidFill>
                  <a:srgbClr val="374151"/>
                </a:solidFill>
              </a:rPr>
              <a:t>システム挙動</a:t>
            </a:r>
            <a:endParaRPr lang="en-US" sz="1600" dirty="0"/>
          </a:p>
        </p:txBody>
      </p:sp>
      <p:sp>
        <p:nvSpPr>
          <p:cNvPr id="9" name="Text 7"/>
          <p:cNvSpPr/>
          <p:nvPr/>
        </p:nvSpPr>
        <p:spPr>
          <a:xfrm>
            <a:off x="731520" y="43891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応答パターンからクロスヒアリング疑いを検出</a:t>
            </a:r>
            <a:endParaRPr lang="en-US" sz="1600" dirty="0"/>
          </a:p>
        </p:txBody>
      </p:sp>
      <p:sp>
        <p:nvSpPr>
          <p:cNvPr id="10" name="Text 8"/>
          <p:cNvSpPr/>
          <p:nvPr/>
        </p:nvSpPr>
        <p:spPr>
          <a:xfrm>
            <a:off x="731520" y="4846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指摘時は追加マスキングの提案を表示</a:t>
            </a:r>
            <a:endParaRPr lang="en-US" sz="1600" dirty="0"/>
          </a:p>
        </p:txBody>
      </p:sp>
      <p:sp>
        <p:nvSpPr>
          <p:cNvPr id="11" name="Text 9"/>
          <p:cNvSpPr/>
          <p:nvPr/>
        </p:nvSpPr>
        <p:spPr>
          <a:xfrm>
            <a:off x="731520" y="5303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学習者に判断理由をフィードバック</a:t>
            </a:r>
            <a:endParaRPr lang="en-US" sz="1600" dirty="0"/>
          </a:p>
        </p:txBody>
      </p:sp>
      <p:sp>
        <p:nvSpPr>
          <p:cNvPr id="12" name="Text 10"/>
          <p:cNvSpPr/>
          <p:nvPr/>
        </p:nvSpPr>
        <p:spPr>
          <a:xfrm>
            <a:off x="8778240" y="6217920"/>
            <a:ext cx="365760" cy="274320"/>
          </a:xfrm>
          <a:prstGeom prst="rect">
            <a:avLst/>
          </a:prstGeom>
          <a:noFill/>
          <a:ln/>
        </p:spPr>
        <p:txBody>
          <a:bodyPr wrap="square" rtlCol="0" anchor="ctr"/>
          <a:lstStyle/>
          <a:p>
            <a:pPr algn="r" indent="0" marL="0">
              <a:buNone/>
            </a:pPr>
            <a:r>
              <a:rPr lang="en-US" sz="1200" dirty="0">
                <a:solidFill>
                  <a:srgbClr val="94A3B8"/>
                </a:solidFill>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algn="l" indent="0" marL="0">
              <a:buNone/>
            </a:pPr>
            <a:r>
              <a:rPr lang="en-US" sz="3200" b="1" dirty="0">
                <a:solidFill>
                  <a:srgbClr val="1F2937"/>
                </a:solidFill>
              </a:rPr>
              <a:t>オーバーマスキング対策</a:t>
            </a:r>
            <a:endParaRPr lang="en-US" sz="3200" dirty="0"/>
          </a:p>
        </p:txBody>
      </p:sp>
      <p:sp>
        <p:nvSpPr>
          <p:cNvPr id="3" name="Text 1"/>
          <p:cNvSpPr/>
          <p:nvPr/>
        </p:nvSpPr>
        <p:spPr>
          <a:xfrm>
            <a:off x="731520" y="1645920"/>
            <a:ext cx="7680960" cy="457200"/>
          </a:xfrm>
          <a:prstGeom prst="rect">
            <a:avLst/>
          </a:prstGeom>
          <a:noFill/>
          <a:ln/>
        </p:spPr>
        <p:txBody>
          <a:bodyPr wrap="square" rtlCol="0" anchor="ctr"/>
          <a:lstStyle/>
          <a:p>
            <a:pPr algn="l" indent="0" marL="0">
              <a:buNone/>
            </a:pPr>
            <a:r>
              <a:rPr lang="en-US" sz="1600" dirty="0">
                <a:solidFill>
                  <a:srgbClr val="374151"/>
                </a:solidFill>
              </a:rPr>
              <a:t>オーバーマスキング対策</a:t>
            </a:r>
            <a:endParaRPr lang="en-US" sz="1600" dirty="0"/>
          </a:p>
        </p:txBody>
      </p:sp>
      <p:sp>
        <p:nvSpPr>
          <p:cNvPr id="4" name="Text 2"/>
          <p:cNvSpPr/>
          <p:nvPr/>
        </p:nvSpPr>
        <p:spPr>
          <a:xfrm>
            <a:off x="731520" y="2103120"/>
            <a:ext cx="7680960" cy="457200"/>
          </a:xfrm>
          <a:prstGeom prst="rect">
            <a:avLst/>
          </a:prstGeom>
          <a:noFill/>
          <a:ln/>
        </p:spPr>
        <p:txBody>
          <a:bodyPr wrap="square" rtlCol="0" anchor="ctr"/>
          <a:lstStyle/>
          <a:p>
            <a:pPr algn="l" indent="0" marL="0">
              <a:buNone/>
            </a:pPr>
            <a:r>
              <a:rPr lang="en-US" sz="1600" dirty="0">
                <a:solidFill>
                  <a:srgbClr val="374151"/>
                </a:solidFill>
              </a:rPr>
              <a:t>判定</a:t>
            </a:r>
            <a:endParaRPr lang="en-US" sz="1600" dirty="0"/>
          </a:p>
        </p:txBody>
      </p:sp>
      <p:sp>
        <p:nvSpPr>
          <p:cNvPr id="5" name="Text 3"/>
          <p:cNvSpPr/>
          <p:nvPr/>
        </p:nvSpPr>
        <p:spPr>
          <a:xfrm>
            <a:off x="731520" y="2560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マスキングノイズが test ear に漏れ込む兆候</a:t>
            </a:r>
            <a:endParaRPr lang="en-US" sz="1600" dirty="0"/>
          </a:p>
        </p:txBody>
      </p:sp>
      <p:sp>
        <p:nvSpPr>
          <p:cNvPr id="6" name="Text 4"/>
          <p:cNvSpPr/>
          <p:nvPr/>
        </p:nvSpPr>
        <p:spPr>
          <a:xfrm>
            <a:off x="731520" y="3017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閾値上昇や応答消失を監視</a:t>
            </a:r>
            <a:endParaRPr lang="en-US" sz="1600" dirty="0"/>
          </a:p>
        </p:txBody>
      </p:sp>
      <p:sp>
        <p:nvSpPr>
          <p:cNvPr id="7" name="Text 5"/>
          <p:cNvSpPr/>
          <p:nvPr/>
        </p:nvSpPr>
        <p:spPr>
          <a:xfrm>
            <a:off x="731520" y="3474720"/>
            <a:ext cx="7680960" cy="457200"/>
          </a:xfrm>
          <a:prstGeom prst="rect">
            <a:avLst/>
          </a:prstGeom>
          <a:noFill/>
          <a:ln/>
        </p:spPr>
        <p:txBody>
          <a:bodyPr wrap="square" rtlCol="0" anchor="ctr"/>
          <a:lstStyle/>
          <a:p>
            <a:pPr algn="l" indent="0" marL="0">
              <a:buNone/>
            </a:pPr>
            <a:r>
              <a:rPr lang="en-US" sz="1600" dirty="0">
                <a:solidFill>
                  <a:srgbClr val="374151"/>
                </a:solidFill>
              </a:rPr>
              <a:t>対応フロー</a:t>
            </a:r>
            <a:endParaRPr lang="en-US" sz="1600" dirty="0"/>
          </a:p>
        </p:txBody>
      </p:sp>
      <p:sp>
        <p:nvSpPr>
          <p:cNvPr id="8" name="Text 6"/>
          <p:cNvSpPr/>
          <p:nvPr/>
        </p:nvSpPr>
        <p:spPr>
          <a:xfrm>
            <a:off x="731520" y="39319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マスキングレベルを段階的に減少</a:t>
            </a:r>
            <a:endParaRPr lang="en-US" sz="1600" dirty="0"/>
          </a:p>
        </p:txBody>
      </p:sp>
      <p:sp>
        <p:nvSpPr>
          <p:cNvPr id="9" name="Text 7"/>
          <p:cNvSpPr/>
          <p:nvPr/>
        </p:nvSpPr>
        <p:spPr>
          <a:xfrm>
            <a:off x="731520" y="43891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再測定で閾値を再確認</a:t>
            </a:r>
            <a:endParaRPr lang="en-US" sz="1600" dirty="0"/>
          </a:p>
        </p:txBody>
      </p:sp>
      <p:sp>
        <p:nvSpPr>
          <p:cNvPr id="10" name="Text 8"/>
          <p:cNvSpPr/>
          <p:nvPr/>
        </p:nvSpPr>
        <p:spPr>
          <a:xfrm>
            <a:off x="731520" y="4846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ルールに沿った最適値を提案</a:t>
            </a:r>
            <a:endParaRPr lang="en-US" sz="1600" dirty="0"/>
          </a:p>
        </p:txBody>
      </p:sp>
      <p:sp>
        <p:nvSpPr>
          <p:cNvPr id="11" name="Text 9"/>
          <p:cNvSpPr/>
          <p:nvPr/>
        </p:nvSpPr>
        <p:spPr>
          <a:xfrm>
            <a:off x="8778240" y="6217920"/>
            <a:ext cx="365760" cy="274320"/>
          </a:xfrm>
          <a:prstGeom prst="rect">
            <a:avLst/>
          </a:prstGeom>
          <a:noFill/>
          <a:ln/>
        </p:spPr>
        <p:txBody>
          <a:bodyPr wrap="square" rtlCol="0" anchor="ctr"/>
          <a:lstStyle/>
          <a:p>
            <a:pPr algn="r" indent="0" marL="0">
              <a:buNone/>
            </a:pPr>
            <a:r>
              <a:rPr lang="en-US" sz="1200" dirty="0">
                <a:solidFill>
                  <a:srgbClr val="94A3B8"/>
                </a:solidFill>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algn="l" indent="0" marL="0">
              <a:buNone/>
            </a:pPr>
            <a:r>
              <a:rPr lang="en-US" sz="3200" b="1" dirty="0">
                <a:solidFill>
                  <a:srgbClr val="1F2937"/>
                </a:solidFill>
              </a:rPr>
              <a:t>全体フローチャート</a:t>
            </a:r>
            <a:endParaRPr lang="en-US" sz="3200" dirty="0"/>
          </a:p>
        </p:txBody>
      </p:sp>
      <p:sp>
        <p:nvSpPr>
          <p:cNvPr id="3" name="Text 1"/>
          <p:cNvSpPr/>
          <p:nvPr/>
        </p:nvSpPr>
        <p:spPr>
          <a:xfrm>
            <a:off x="731520" y="1645920"/>
            <a:ext cx="7680960" cy="457200"/>
          </a:xfrm>
          <a:prstGeom prst="rect">
            <a:avLst/>
          </a:prstGeom>
          <a:noFill/>
          <a:ln/>
        </p:spPr>
        <p:txBody>
          <a:bodyPr wrap="square" rtlCol="0" anchor="ctr"/>
          <a:lstStyle/>
          <a:p>
            <a:pPr algn="l" indent="0" marL="0">
              <a:buNone/>
            </a:pPr>
            <a:r>
              <a:rPr lang="en-US" sz="1600" dirty="0">
                <a:solidFill>
                  <a:srgbClr val="374151"/>
                </a:solidFill>
              </a:rPr>
              <a:t>全体フローチャート</a:t>
            </a:r>
            <a:endParaRPr lang="en-US" sz="1600" dirty="0"/>
          </a:p>
        </p:txBody>
      </p:sp>
      <p:sp>
        <p:nvSpPr>
          <p:cNvPr id="4" name="Text 2"/>
          <p:cNvSpPr/>
          <p:nvPr/>
        </p:nvSpPr>
        <p:spPr>
          <a:xfrm>
            <a:off x="731520" y="2103120"/>
            <a:ext cx="7680960" cy="457200"/>
          </a:xfrm>
          <a:prstGeom prst="rect">
            <a:avLst/>
          </a:prstGeom>
          <a:noFill/>
          <a:ln/>
        </p:spPr>
        <p:txBody>
          <a:bodyPr wrap="square" rtlCol="0" anchor="ctr"/>
          <a:lstStyle/>
          <a:p>
            <a:pPr algn="l" indent="0" marL="0">
              <a:buNone/>
            </a:pPr>
            <a:r>
              <a:rPr lang="en-US" sz="1600" dirty="0">
                <a:solidFill>
                  <a:srgbClr val="374151"/>
                </a:solidFill>
              </a:rPr>
              <a:t>flowchart TD</a:t>
            </a:r>
            <a:endParaRPr lang="en-US" sz="1600" dirty="0"/>
          </a:p>
        </p:txBody>
      </p:sp>
      <p:sp>
        <p:nvSpPr>
          <p:cNvPr id="5" name="Text 3"/>
          <p:cNvSpPr/>
          <p:nvPr/>
        </p:nvSpPr>
        <p:spPr>
          <a:xfrm>
            <a:off x="731520" y="2560320"/>
            <a:ext cx="7680960" cy="457200"/>
          </a:xfrm>
          <a:prstGeom prst="rect">
            <a:avLst/>
          </a:prstGeom>
          <a:noFill/>
          <a:ln/>
        </p:spPr>
        <p:txBody>
          <a:bodyPr wrap="square" rtlCol="0" anchor="ctr"/>
          <a:lstStyle/>
          <a:p>
            <a:pPr algn="l" indent="0" marL="0">
              <a:buNone/>
            </a:pPr>
            <a:r>
              <a:rPr lang="en-US" sz="1600" dirty="0">
                <a:solidFill>
                  <a:srgbClr val="374151"/>
                </a:solidFill>
              </a:rPr>
              <a:t>  Start[AI症例生成] --&gt; ACGen[AC初期値・補助検査生成]</a:t>
            </a:r>
            <a:endParaRPr lang="en-US" sz="1600" dirty="0"/>
          </a:p>
        </p:txBody>
      </p:sp>
      <p:sp>
        <p:nvSpPr>
          <p:cNvPr id="6" name="Text 4"/>
          <p:cNvSpPr/>
          <p:nvPr/>
        </p:nvSpPr>
        <p:spPr>
          <a:xfrm>
            <a:off x="731520" y="3017520"/>
            <a:ext cx="7680960" cy="457200"/>
          </a:xfrm>
          <a:prstGeom prst="rect">
            <a:avLst/>
          </a:prstGeom>
          <a:noFill/>
          <a:ln/>
        </p:spPr>
        <p:txBody>
          <a:bodyPr wrap="square" rtlCol="0" anchor="ctr"/>
          <a:lstStyle/>
          <a:p>
            <a:pPr algn="l" indent="0" marL="0">
              <a:buNone/>
            </a:pPr>
            <a:r>
              <a:rPr lang="en-US" sz="1600" dirty="0">
                <a:solidFill>
                  <a:srgbClr val="374151"/>
                </a:solidFill>
              </a:rPr>
              <a:t>  ACGen --&gt; ACMeasure[AC測定 5dB下降法]</a:t>
            </a:r>
            <a:endParaRPr lang="en-US" sz="1600" dirty="0"/>
          </a:p>
        </p:txBody>
      </p:sp>
      <p:sp>
        <p:nvSpPr>
          <p:cNvPr id="7" name="Text 5"/>
          <p:cNvSpPr/>
          <p:nvPr/>
        </p:nvSpPr>
        <p:spPr>
          <a:xfrm>
            <a:off x="731520" y="3474720"/>
            <a:ext cx="7680960" cy="457200"/>
          </a:xfrm>
          <a:prstGeom prst="rect">
            <a:avLst/>
          </a:prstGeom>
          <a:noFill/>
          <a:ln/>
        </p:spPr>
        <p:txBody>
          <a:bodyPr wrap="square" rtlCol="0" anchor="ctr"/>
          <a:lstStyle/>
          <a:p>
            <a:pPr algn="l" indent="0" marL="0">
              <a:buNone/>
            </a:pPr>
            <a:r>
              <a:rPr lang="en-US" sz="1600" dirty="0">
                <a:solidFill>
                  <a:srgbClr val="374151"/>
                </a:solidFill>
              </a:rPr>
              <a:t>  ACMeasure --&gt; BCMeasure[BC測定とABG管理]</a:t>
            </a:r>
            <a:endParaRPr lang="en-US" sz="1600" dirty="0"/>
          </a:p>
        </p:txBody>
      </p:sp>
      <p:sp>
        <p:nvSpPr>
          <p:cNvPr id="8" name="Text 6"/>
          <p:cNvSpPr/>
          <p:nvPr/>
        </p:nvSpPr>
        <p:spPr>
          <a:xfrm>
            <a:off x="731520" y="3931920"/>
            <a:ext cx="7680960" cy="457200"/>
          </a:xfrm>
          <a:prstGeom prst="rect">
            <a:avLst/>
          </a:prstGeom>
          <a:noFill/>
          <a:ln/>
        </p:spPr>
        <p:txBody>
          <a:bodyPr wrap="square" rtlCol="0" anchor="ctr"/>
          <a:lstStyle/>
          <a:p>
            <a:pPr algn="l" indent="0" marL="0">
              <a:buNone/>
            </a:pPr>
            <a:r>
              <a:rPr lang="en-US" sz="1600" dirty="0">
                <a:solidFill>
                  <a:srgbClr val="374151"/>
                </a:solidFill>
              </a:rPr>
              <a:t>  BCMeasure --&gt; MaskCheck[マスキング要否判定]</a:t>
            </a:r>
            <a:endParaRPr lang="en-US" sz="1600" dirty="0"/>
          </a:p>
        </p:txBody>
      </p:sp>
      <p:sp>
        <p:nvSpPr>
          <p:cNvPr id="9" name="Text 7"/>
          <p:cNvSpPr/>
          <p:nvPr/>
        </p:nvSpPr>
        <p:spPr>
          <a:xfrm>
            <a:off x="731520" y="4389120"/>
            <a:ext cx="7680960" cy="457200"/>
          </a:xfrm>
          <a:prstGeom prst="rect">
            <a:avLst/>
          </a:prstGeom>
          <a:noFill/>
          <a:ln/>
        </p:spPr>
        <p:txBody>
          <a:bodyPr wrap="square" rtlCol="0" anchor="ctr"/>
          <a:lstStyle/>
          <a:p>
            <a:pPr algn="l" indent="0" marL="0">
              <a:buNone/>
            </a:pPr>
            <a:r>
              <a:rPr lang="en-US" sz="1600" dirty="0">
                <a:solidFill>
                  <a:srgbClr val="374151"/>
                </a:solidFill>
              </a:rPr>
              <a:t>  MaskCheck --&gt;|必要| MaskCalc[マスキング量算出]</a:t>
            </a:r>
            <a:endParaRPr lang="en-US" sz="1600" dirty="0"/>
          </a:p>
        </p:txBody>
      </p:sp>
      <p:sp>
        <p:nvSpPr>
          <p:cNvPr id="10" name="Text 8"/>
          <p:cNvSpPr/>
          <p:nvPr/>
        </p:nvSpPr>
        <p:spPr>
          <a:xfrm>
            <a:off x="731520" y="4846320"/>
            <a:ext cx="7680960" cy="457200"/>
          </a:xfrm>
          <a:prstGeom prst="rect">
            <a:avLst/>
          </a:prstGeom>
          <a:noFill/>
          <a:ln/>
        </p:spPr>
        <p:txBody>
          <a:bodyPr wrap="square" rtlCol="0" anchor="ctr"/>
          <a:lstStyle/>
          <a:p>
            <a:pPr algn="l" indent="0" marL="0">
              <a:buNone/>
            </a:pPr>
            <a:r>
              <a:rPr lang="en-US" sz="1600" dirty="0">
                <a:solidFill>
                  <a:srgbClr val="374151"/>
                </a:solidFill>
              </a:rPr>
              <a:t>  MaskCalc --&gt; ApplyMask[マスキング適用と再測定]</a:t>
            </a:r>
            <a:endParaRPr lang="en-US" sz="1600" dirty="0"/>
          </a:p>
        </p:txBody>
      </p:sp>
      <p:sp>
        <p:nvSpPr>
          <p:cNvPr id="11" name="Text 9"/>
          <p:cNvSpPr/>
          <p:nvPr/>
        </p:nvSpPr>
        <p:spPr>
          <a:xfrm>
            <a:off x="731520" y="5303520"/>
            <a:ext cx="7680960" cy="457200"/>
          </a:xfrm>
          <a:prstGeom prst="rect">
            <a:avLst/>
          </a:prstGeom>
          <a:noFill/>
          <a:ln/>
        </p:spPr>
        <p:txBody>
          <a:bodyPr wrap="square" rtlCol="0" anchor="ctr"/>
          <a:lstStyle/>
          <a:p>
            <a:pPr algn="l" indent="0" marL="0">
              <a:buNone/>
            </a:pPr>
            <a:r>
              <a:rPr lang="en-US" sz="1600" dirty="0">
                <a:solidFill>
                  <a:srgbClr val="374151"/>
                </a:solidFill>
              </a:rPr>
              <a:t>  ApplyMask --&gt; CrossCheck[クロスヒアリング検出]</a:t>
            </a:r>
            <a:endParaRPr lang="en-US" sz="1600" dirty="0"/>
          </a:p>
        </p:txBody>
      </p:sp>
      <p:sp>
        <p:nvSpPr>
          <p:cNvPr id="12" name="Text 10"/>
          <p:cNvSpPr/>
          <p:nvPr/>
        </p:nvSpPr>
        <p:spPr>
          <a:xfrm>
            <a:off x="731520" y="5760720"/>
            <a:ext cx="7680960" cy="457200"/>
          </a:xfrm>
          <a:prstGeom prst="rect">
            <a:avLst/>
          </a:prstGeom>
          <a:noFill/>
          <a:ln/>
        </p:spPr>
        <p:txBody>
          <a:bodyPr wrap="square" rtlCol="0" anchor="ctr"/>
          <a:lstStyle/>
          <a:p>
            <a:pPr algn="l" indent="0" marL="0">
              <a:buNone/>
            </a:pPr>
            <a:r>
              <a:rPr lang="en-US" sz="1600" dirty="0">
                <a:solidFill>
                  <a:srgbClr val="374151"/>
                </a:solidFill>
              </a:rPr>
              <a:t>  CrossCheck --&gt; OverMask[オーバーマスキング監視]</a:t>
            </a:r>
            <a:endParaRPr lang="en-US" sz="1600" dirty="0"/>
          </a:p>
        </p:txBody>
      </p:sp>
      <p:sp>
        <p:nvSpPr>
          <p:cNvPr id="13" name="Text 11"/>
          <p:cNvSpPr/>
          <p:nvPr/>
        </p:nvSpPr>
        <p:spPr>
          <a:xfrm>
            <a:off x="731520" y="6217920"/>
            <a:ext cx="7680960" cy="457200"/>
          </a:xfrm>
          <a:prstGeom prst="rect">
            <a:avLst/>
          </a:prstGeom>
          <a:noFill/>
          <a:ln/>
        </p:spPr>
        <p:txBody>
          <a:bodyPr wrap="square" rtlCol="0" anchor="ctr"/>
          <a:lstStyle/>
          <a:p>
            <a:pPr algn="l" indent="0" marL="0">
              <a:buNone/>
            </a:pPr>
            <a:r>
              <a:rPr lang="en-US" sz="1600" dirty="0">
                <a:solidFill>
                  <a:srgbClr val="374151"/>
                </a:solidFill>
              </a:rPr>
              <a:t>  OverMask --&gt; ResultCheck[結果照合・ログ保存]</a:t>
            </a:r>
            <a:endParaRPr lang="en-US" sz="1600" dirty="0"/>
          </a:p>
        </p:txBody>
      </p:sp>
      <p:sp>
        <p:nvSpPr>
          <p:cNvPr id="14" name="Text 12"/>
          <p:cNvSpPr/>
          <p:nvPr/>
        </p:nvSpPr>
        <p:spPr>
          <a:xfrm>
            <a:off x="731520" y="6675120"/>
            <a:ext cx="7315200" cy="548640"/>
          </a:xfrm>
          <a:prstGeom prst="rect">
            <a:avLst/>
          </a:prstGeom>
          <a:noFill/>
          <a:ln/>
        </p:spPr>
        <p:txBody>
          <a:bodyPr wrap="square" rtlCol="0" anchor="ctr"/>
          <a:lstStyle/>
          <a:p>
            <a:pPr indent="0" marL="0">
              <a:buNone/>
            </a:pPr>
            <a:r>
              <a:rPr lang="en-US" sz="1600" i="1" dirty="0">
                <a:solidFill>
                  <a:srgbClr val="2563EB"/>
                </a:solidFill>
              </a:rPr>
              <a:t>Mermaid 図は資料参照</a:t>
            </a:r>
            <a:endParaRPr lang="en-US" sz="1600" dirty="0"/>
          </a:p>
        </p:txBody>
      </p:sp>
      <p:sp>
        <p:nvSpPr>
          <p:cNvPr id="15" name="Text 13"/>
          <p:cNvSpPr/>
          <p:nvPr/>
        </p:nvSpPr>
        <p:spPr>
          <a:xfrm>
            <a:off x="8778240" y="6217920"/>
            <a:ext cx="365760" cy="274320"/>
          </a:xfrm>
          <a:prstGeom prst="rect">
            <a:avLst/>
          </a:prstGeom>
          <a:noFill/>
          <a:ln/>
        </p:spPr>
        <p:txBody>
          <a:bodyPr wrap="square" rtlCol="0" anchor="ctr"/>
          <a:lstStyle/>
          <a:p>
            <a:pPr algn="r" indent="0" marL="0">
              <a:buNone/>
            </a:pPr>
            <a:r>
              <a:rPr lang="en-US" sz="1200" dirty="0">
                <a:solidFill>
                  <a:srgbClr val="94A3B8"/>
                </a:solidFill>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algn="l" indent="0" marL="0">
              <a:buNone/>
            </a:pPr>
            <a:r>
              <a:rPr lang="en-US" sz="3200" b="1" dirty="0">
                <a:solidFill>
                  <a:srgbClr val="1F2937"/>
                </a:solidFill>
              </a:rPr>
              <a:t>UIとフィードバック</a:t>
            </a:r>
            <a:endParaRPr lang="en-US" sz="3200" dirty="0"/>
          </a:p>
        </p:txBody>
      </p:sp>
      <p:sp>
        <p:nvSpPr>
          <p:cNvPr id="3" name="Text 1"/>
          <p:cNvSpPr/>
          <p:nvPr/>
        </p:nvSpPr>
        <p:spPr>
          <a:xfrm>
            <a:off x="731520" y="1645920"/>
            <a:ext cx="7680960" cy="457200"/>
          </a:xfrm>
          <a:prstGeom prst="rect">
            <a:avLst/>
          </a:prstGeom>
          <a:noFill/>
          <a:ln/>
        </p:spPr>
        <p:txBody>
          <a:bodyPr wrap="square" rtlCol="0" anchor="ctr"/>
          <a:lstStyle/>
          <a:p>
            <a:pPr algn="l" indent="0" marL="0">
              <a:buNone/>
            </a:pPr>
            <a:r>
              <a:rPr lang="en-US" sz="1600" dirty="0">
                <a:solidFill>
                  <a:srgbClr val="374151"/>
                </a:solidFill>
              </a:rPr>
              <a:t>UIとフィードバック</a:t>
            </a:r>
            <a:endParaRPr lang="en-US" sz="1600" dirty="0"/>
          </a:p>
        </p:txBody>
      </p:sp>
      <p:sp>
        <p:nvSpPr>
          <p:cNvPr id="4" name="Text 2"/>
          <p:cNvSpPr/>
          <p:nvPr/>
        </p:nvSpPr>
        <p:spPr>
          <a:xfrm>
            <a:off x="731520" y="2103120"/>
            <a:ext cx="7680960" cy="457200"/>
          </a:xfrm>
          <a:prstGeom prst="rect">
            <a:avLst/>
          </a:prstGeom>
          <a:noFill/>
          <a:ln/>
        </p:spPr>
        <p:txBody>
          <a:bodyPr wrap="square" rtlCol="0" anchor="ctr"/>
          <a:lstStyle/>
          <a:p>
            <a:pPr algn="l" indent="0" marL="0">
              <a:buNone/>
            </a:pPr>
            <a:r>
              <a:rPr lang="en-US" sz="1600" dirty="0">
                <a:solidFill>
                  <a:srgbClr val="374151"/>
                </a:solidFill>
              </a:rPr>
              <a:t>学習者画面</a:t>
            </a:r>
            <a:endParaRPr lang="en-US" sz="1600" dirty="0"/>
          </a:p>
        </p:txBody>
      </p:sp>
      <p:sp>
        <p:nvSpPr>
          <p:cNvPr id="5" name="Text 3"/>
          <p:cNvSpPr/>
          <p:nvPr/>
        </p:nvSpPr>
        <p:spPr>
          <a:xfrm>
            <a:off x="731520" y="2560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Audiogram ビュー＋マスキング入力欄</a:t>
            </a:r>
            <a:endParaRPr lang="en-US" sz="1600" dirty="0"/>
          </a:p>
        </p:txBody>
      </p:sp>
      <p:sp>
        <p:nvSpPr>
          <p:cNvPr id="6" name="Text 4"/>
          <p:cNvSpPr/>
          <p:nvPr/>
        </p:nvSpPr>
        <p:spPr>
          <a:xfrm>
            <a:off x="731520" y="3017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推奨値・警告表示・アドバイス</a:t>
            </a:r>
            <a:endParaRPr lang="en-US" sz="1600" dirty="0"/>
          </a:p>
        </p:txBody>
      </p:sp>
      <p:sp>
        <p:nvSpPr>
          <p:cNvPr id="7" name="Text 5"/>
          <p:cNvSpPr/>
          <p:nvPr/>
        </p:nvSpPr>
        <p:spPr>
          <a:xfrm>
            <a:off x="731520" y="34747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補助検査タブ（Tym／ART／DPOAE）</a:t>
            </a:r>
            <a:endParaRPr lang="en-US" sz="1600" dirty="0"/>
          </a:p>
        </p:txBody>
      </p:sp>
      <p:sp>
        <p:nvSpPr>
          <p:cNvPr id="8" name="Text 6"/>
          <p:cNvSpPr/>
          <p:nvPr/>
        </p:nvSpPr>
        <p:spPr>
          <a:xfrm>
            <a:off x="731520" y="3931920"/>
            <a:ext cx="7680960" cy="457200"/>
          </a:xfrm>
          <a:prstGeom prst="rect">
            <a:avLst/>
          </a:prstGeom>
          <a:noFill/>
          <a:ln/>
        </p:spPr>
        <p:txBody>
          <a:bodyPr wrap="square" rtlCol="0" anchor="ctr"/>
          <a:lstStyle/>
          <a:p>
            <a:pPr algn="l" indent="0" marL="0">
              <a:buNone/>
            </a:pPr>
            <a:r>
              <a:rPr lang="en-US" sz="1600" dirty="0">
                <a:solidFill>
                  <a:srgbClr val="374151"/>
                </a:solidFill>
              </a:rPr>
              <a:t>フィードバック機能</a:t>
            </a:r>
            <a:endParaRPr lang="en-US" sz="1600" dirty="0"/>
          </a:p>
        </p:txBody>
      </p:sp>
      <p:sp>
        <p:nvSpPr>
          <p:cNvPr id="9" name="Text 7"/>
          <p:cNvSpPr/>
          <p:nvPr/>
        </p:nvSpPr>
        <p:spPr>
          <a:xfrm>
            <a:off x="731520" y="43891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応答履歴と閾値差分を可視化</a:t>
            </a:r>
            <a:endParaRPr lang="en-US" sz="1600" dirty="0"/>
          </a:p>
        </p:txBody>
      </p:sp>
      <p:sp>
        <p:nvSpPr>
          <p:cNvPr id="10" name="Text 8"/>
          <p:cNvSpPr/>
          <p:nvPr/>
        </p:nvSpPr>
        <p:spPr>
          <a:xfrm>
            <a:off x="731520" y="4846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過小／過大の理由をコメント表示</a:t>
            </a:r>
            <a:endParaRPr lang="en-US" sz="1600" dirty="0"/>
          </a:p>
        </p:txBody>
      </p:sp>
      <p:sp>
        <p:nvSpPr>
          <p:cNvPr id="11" name="Text 9"/>
          <p:cNvSpPr/>
          <p:nvPr/>
        </p:nvSpPr>
        <p:spPr>
          <a:xfrm>
            <a:off x="731520" y="5303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学習ログで苦手傾向を分析</a:t>
            </a:r>
            <a:endParaRPr lang="en-US" sz="1600" dirty="0"/>
          </a:p>
        </p:txBody>
      </p:sp>
      <p:sp>
        <p:nvSpPr>
          <p:cNvPr id="12" name="Text 10"/>
          <p:cNvSpPr/>
          <p:nvPr/>
        </p:nvSpPr>
        <p:spPr>
          <a:xfrm>
            <a:off x="8778240" y="6217920"/>
            <a:ext cx="365760" cy="274320"/>
          </a:xfrm>
          <a:prstGeom prst="rect">
            <a:avLst/>
          </a:prstGeom>
          <a:noFill/>
          <a:ln/>
        </p:spPr>
        <p:txBody>
          <a:bodyPr wrap="square" rtlCol="0" anchor="ctr"/>
          <a:lstStyle/>
          <a:p>
            <a:pPr algn="r" indent="0" marL="0">
              <a:buNone/>
            </a:pPr>
            <a:r>
              <a:rPr lang="en-US" sz="1200" dirty="0">
                <a:solidFill>
                  <a:srgbClr val="94A3B8"/>
                </a:solidFill>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algn="l" indent="0" marL="0">
              <a:buNone/>
            </a:pPr>
            <a:r>
              <a:rPr lang="en-US" sz="3200" b="1" dirty="0">
                <a:solidFill>
                  <a:srgbClr val="1F2937"/>
                </a:solidFill>
              </a:rPr>
              <a:t>まとめと次ステップ</a:t>
            </a:r>
            <a:endParaRPr lang="en-US" sz="3200" dirty="0"/>
          </a:p>
        </p:txBody>
      </p:sp>
      <p:sp>
        <p:nvSpPr>
          <p:cNvPr id="3" name="Text 1"/>
          <p:cNvSpPr/>
          <p:nvPr/>
        </p:nvSpPr>
        <p:spPr>
          <a:xfrm>
            <a:off x="731520" y="1645920"/>
            <a:ext cx="7680960" cy="457200"/>
          </a:xfrm>
          <a:prstGeom prst="rect">
            <a:avLst/>
          </a:prstGeom>
          <a:noFill/>
          <a:ln/>
        </p:spPr>
        <p:txBody>
          <a:bodyPr wrap="square" rtlCol="0" anchor="ctr"/>
          <a:lstStyle/>
          <a:p>
            <a:pPr algn="l" indent="0" marL="0">
              <a:buNone/>
            </a:pPr>
            <a:r>
              <a:rPr lang="en-US" sz="1600" dirty="0">
                <a:solidFill>
                  <a:srgbClr val="374151"/>
                </a:solidFill>
              </a:rPr>
              <a:t>まとめと次ステップ</a:t>
            </a:r>
            <a:endParaRPr lang="en-US" sz="1600" dirty="0"/>
          </a:p>
        </p:txBody>
      </p:sp>
      <p:sp>
        <p:nvSpPr>
          <p:cNvPr id="4" name="Text 2"/>
          <p:cNvSpPr/>
          <p:nvPr/>
        </p:nvSpPr>
        <p:spPr>
          <a:xfrm>
            <a:off x="731520" y="2103120"/>
            <a:ext cx="7680960" cy="457200"/>
          </a:xfrm>
          <a:prstGeom prst="rect">
            <a:avLst/>
          </a:prstGeom>
          <a:noFill/>
          <a:ln/>
        </p:spPr>
        <p:txBody>
          <a:bodyPr wrap="square" rtlCol="0" anchor="ctr"/>
          <a:lstStyle/>
          <a:p>
            <a:pPr algn="l" indent="0" marL="0">
              <a:buNone/>
            </a:pPr>
            <a:r>
              <a:rPr lang="en-US" sz="1600" dirty="0">
                <a:solidFill>
                  <a:srgbClr val="374151"/>
                </a:solidFill>
              </a:rPr>
              <a:t>まとめ</a:t>
            </a:r>
            <a:endParaRPr lang="en-US" sz="1600" dirty="0"/>
          </a:p>
        </p:txBody>
      </p:sp>
      <p:sp>
        <p:nvSpPr>
          <p:cNvPr id="5" name="Text 3"/>
          <p:cNvSpPr/>
          <p:nvPr/>
        </p:nvSpPr>
        <p:spPr>
          <a:xfrm>
            <a:off x="731520" y="2560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AI 症例生成で臨床的に自然な基礎データを用意</a:t>
            </a:r>
            <a:endParaRPr lang="en-US" sz="1600" dirty="0"/>
          </a:p>
        </p:txBody>
      </p:sp>
      <p:sp>
        <p:nvSpPr>
          <p:cNvPr id="6" name="Text 4"/>
          <p:cNvSpPr/>
          <p:nvPr/>
        </p:nvSpPr>
        <p:spPr>
          <a:xfrm>
            <a:off x="731520" y="3017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- 5dB下降法→マスキング設定→結果照合の一連を反復学習</a:t>
            </a:r>
            <a:endParaRPr lang="en-US" sz="1600" dirty="0"/>
          </a:p>
        </p:txBody>
      </p:sp>
      <p:sp>
        <p:nvSpPr>
          <p:cNvPr id="7" name="Text 5"/>
          <p:cNvSpPr/>
          <p:nvPr/>
        </p:nvSpPr>
        <p:spPr>
          <a:xfrm>
            <a:off x="731520" y="34747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クロスヒアリング／オーバーマスキングを計画的に体験</a:t>
            </a:r>
            <a:endParaRPr lang="en-US" sz="1600" dirty="0"/>
          </a:p>
        </p:txBody>
      </p:sp>
      <p:sp>
        <p:nvSpPr>
          <p:cNvPr id="8" name="Text 6"/>
          <p:cNvSpPr/>
          <p:nvPr/>
        </p:nvSpPr>
        <p:spPr>
          <a:xfrm>
            <a:off x="731520" y="3931920"/>
            <a:ext cx="7680960" cy="457200"/>
          </a:xfrm>
          <a:prstGeom prst="rect">
            <a:avLst/>
          </a:prstGeom>
          <a:noFill/>
          <a:ln/>
        </p:spPr>
        <p:txBody>
          <a:bodyPr wrap="square" rtlCol="0" anchor="ctr"/>
          <a:lstStyle/>
          <a:p>
            <a:pPr algn="l" indent="0" marL="0">
              <a:buNone/>
            </a:pPr>
            <a:r>
              <a:rPr lang="en-US" sz="1600" dirty="0">
                <a:solidFill>
                  <a:srgbClr val="374151"/>
                </a:solidFill>
              </a:rPr>
              <a:t>次ステップ</a:t>
            </a:r>
            <a:endParaRPr lang="en-US" sz="1600" dirty="0"/>
          </a:p>
        </p:txBody>
      </p:sp>
      <p:sp>
        <p:nvSpPr>
          <p:cNvPr id="9" name="Text 7"/>
          <p:cNvSpPr/>
          <p:nvPr/>
        </p:nvSpPr>
        <p:spPr>
          <a:xfrm>
            <a:off x="731520" y="43891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追加シナリオ（重症度・疾患拡張）の投入</a:t>
            </a:r>
            <a:endParaRPr lang="en-US" sz="1600" dirty="0"/>
          </a:p>
        </p:txBody>
      </p:sp>
      <p:sp>
        <p:nvSpPr>
          <p:cNvPr id="10" name="Text 8"/>
          <p:cNvSpPr/>
          <p:nvPr/>
        </p:nvSpPr>
        <p:spPr>
          <a:xfrm>
            <a:off x="731520" y="48463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結果レポートの自動生成</a:t>
            </a:r>
            <a:endParaRPr lang="en-US" sz="1600" dirty="0"/>
          </a:p>
        </p:txBody>
      </p:sp>
      <p:sp>
        <p:nvSpPr>
          <p:cNvPr id="11" name="Text 9"/>
          <p:cNvSpPr/>
          <p:nvPr/>
        </p:nvSpPr>
        <p:spPr>
          <a:xfrm>
            <a:off x="731520" y="5303520"/>
            <a:ext cx="7680960" cy="457200"/>
          </a:xfrm>
          <a:prstGeom prst="rect">
            <a:avLst/>
          </a:prstGeom>
          <a:noFill/>
          <a:ln/>
        </p:spPr>
        <p:txBody>
          <a:bodyPr wrap="square" rtlCol="0" anchor="ctr"/>
          <a:lstStyle/>
          <a:p>
            <a:pPr algn="l" marL="342900" indent="-342900">
              <a:buSzPct val="100000"/>
              <a:buChar char="•"/>
            </a:pPr>
            <a:r>
              <a:rPr lang="en-US" sz="1600" dirty="0">
                <a:solidFill>
                  <a:srgbClr val="374151"/>
                </a:solidFill>
              </a:rPr>
              <a:t>- LMS/実機連携の検証と導入</a:t>
            </a:r>
            <a:endParaRPr lang="en-US" sz="1600" dirty="0"/>
          </a:p>
        </p:txBody>
      </p:sp>
      <p:sp>
        <p:nvSpPr>
          <p:cNvPr id="12" name="Text 10"/>
          <p:cNvSpPr/>
          <p:nvPr/>
        </p:nvSpPr>
        <p:spPr>
          <a:xfrm>
            <a:off x="8778240" y="6217920"/>
            <a:ext cx="365760" cy="274320"/>
          </a:xfrm>
          <a:prstGeom prst="rect">
            <a:avLst/>
          </a:prstGeom>
          <a:noFill/>
          <a:ln/>
        </p:spPr>
        <p:txBody>
          <a:bodyPr wrap="square" rtlCol="0" anchor="ctr"/>
          <a:lstStyle/>
          <a:p>
            <a:pPr algn="r" indent="0" marL="0">
              <a:buNone/>
            </a:pPr>
            <a:r>
              <a:rPr lang="en-US" sz="1200" dirty="0">
                <a:solidFill>
                  <a:srgbClr val="94A3B8"/>
                </a:solidFill>
              </a:rPr>
              <a:t>13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2025-11-08T04:23:13Z</dcterms:created>
  <dcterms:modified xsi:type="dcterms:W3CDTF">2025-11-08T04:23:13Z</dcterms:modified>
</cp:coreProperties>
</file>