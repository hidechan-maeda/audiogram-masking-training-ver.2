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2937"/>
                </a:solidFill>
              </a:rPr>
              <a:t>スライド 1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731520" y="1645920"/>
            <a:ext cx="7680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374151"/>
                </a:solidFill>
              </a:rPr>
              <a:t>AI聴覚シミュレーショントレーニング プレゼン資料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731520" y="2103120"/>
            <a:ext cx="7680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374151"/>
                </a:solidFill>
              </a:rPr>
              <a:t>臨床現場を再現したAI症例生成とマスキング訓練プラットフォーム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8778240" y="6217920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4A3B8"/>
                </a:solidFill>
              </a:rPr>
              <a:t>1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2937"/>
                </a:solidFill>
              </a:rPr>
              <a:t>タイトル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731520" y="1645920"/>
            <a:ext cx="7680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374151"/>
                </a:solidFill>
              </a:rPr>
              <a:t>タイトル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731520" y="2103120"/>
            <a:ext cx="7680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374151"/>
                </a:solidFill>
              </a:rPr>
              <a:t>AI聴覚シミュレーション・トレーニングプラットフォーム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31520" y="2560320"/>
            <a:ext cx="7680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374151"/>
                </a:solidFill>
              </a:rPr>
              <a:t>臨床現場を再現したAI症例生成と聴力検査シミュレーション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731520" y="3017520"/>
            <a:ext cx="7680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374151"/>
                </a:solidFill>
              </a:rPr>
              <a:t>発表者：＿＿／所属：＿＿／日付：＿＿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8778240" y="6217920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4A3B8"/>
                </a:solidFill>
              </a:rPr>
              <a:t>2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2937"/>
                </a:solidFill>
              </a:rPr>
              <a:t>背景と課題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731520" y="1645920"/>
            <a:ext cx="7680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374151"/>
                </a:solidFill>
              </a:rPr>
              <a:t>背景と課題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731520" y="2103120"/>
            <a:ext cx="7680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374151"/>
                </a:solidFill>
              </a:rPr>
              <a:t>現場課題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31520" y="2560320"/>
            <a:ext cx="7680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marL="342900" indent="-342900">
              <a:buSzPct val="100000"/>
              <a:buChar char="•"/>
            </a:pPr>
            <a:r>
              <a:rPr lang="en-US" sz="1600" dirty="0">
                <a:solidFill>
                  <a:srgbClr val="374151"/>
                </a:solidFill>
              </a:rPr>
              <a:t>- マスキング値設定は経験依存が大きく習得が難しい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731520" y="3017520"/>
            <a:ext cx="7680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marL="342900" indent="-342900">
              <a:buSzPct val="100000"/>
              <a:buChar char="•"/>
            </a:pPr>
            <a:r>
              <a:rPr lang="en-US" sz="1600" dirty="0">
                <a:solidFill>
                  <a:srgbClr val="374151"/>
                </a:solidFill>
              </a:rPr>
              <a:t>- 症例データ不足で体系的なトレーニングが困難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731520" y="3474720"/>
            <a:ext cx="7680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marL="342900" indent="-342900">
              <a:buSzPct val="100000"/>
              <a:buChar char="•"/>
            </a:pPr>
            <a:r>
              <a:rPr lang="en-US" sz="1600" dirty="0">
                <a:solidFill>
                  <a:srgbClr val="374151"/>
                </a:solidFill>
              </a:rPr>
              <a:t>- 実機利用は高コスト・場所制約が大きい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731520" y="3931920"/>
            <a:ext cx="7680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374151"/>
                </a:solidFill>
              </a:rPr>
              <a:t>教育ニーズ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731520" y="4389120"/>
            <a:ext cx="7680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marL="342900" indent="-342900">
              <a:buSzPct val="100000"/>
              <a:buChar char="•"/>
            </a:pPr>
            <a:r>
              <a:rPr lang="en-US" sz="1600" dirty="0">
                <a:solidFill>
                  <a:srgbClr val="374151"/>
                </a:solidFill>
              </a:rPr>
              <a:t>- 臨床ルールに沿った擬似症例の大量供給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31520" y="4846320"/>
            <a:ext cx="7680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marL="342900" indent="-342900">
              <a:buSzPct val="100000"/>
              <a:buChar char="•"/>
            </a:pPr>
            <a:r>
              <a:rPr lang="en-US" sz="1600" dirty="0">
                <a:solidFill>
                  <a:srgbClr val="374151"/>
                </a:solidFill>
              </a:rPr>
              <a:t>- 判断プロセスを可視化する教材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731520" y="5303520"/>
            <a:ext cx="7680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marL="342900" indent="-342900">
              <a:buSzPct val="100000"/>
              <a:buChar char="•"/>
            </a:pPr>
            <a:r>
              <a:rPr lang="en-US" sz="1600" dirty="0">
                <a:solidFill>
                  <a:srgbClr val="374151"/>
                </a:solidFill>
              </a:rPr>
              <a:t>- ブラウザだけで再現可能な訓練環境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8778240" y="6217920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4A3B8"/>
                </a:solidFill>
              </a:rPr>
              <a:t>3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2937"/>
                </a:solidFill>
              </a:rPr>
              <a:t>ソリューション概要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731520" y="1645920"/>
            <a:ext cx="7680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374151"/>
                </a:solidFill>
              </a:rPr>
              <a:t>ソリューション概要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731520" y="2103120"/>
            <a:ext cx="7680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374151"/>
                </a:solidFill>
              </a:rPr>
              <a:t>プラットフォームの核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31520" y="2560320"/>
            <a:ext cx="7680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marL="342900" indent="-342900">
              <a:buSzPct val="100000"/>
              <a:buChar char="•"/>
            </a:pPr>
            <a:r>
              <a:rPr lang="en-US" sz="1600" dirty="0">
                <a:solidFill>
                  <a:srgbClr val="374151"/>
                </a:solidFill>
              </a:rPr>
              <a:t>- AI が年齢・性別・疾患・重症度を含む擬似患者を自動生成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731520" y="3017520"/>
            <a:ext cx="7680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marL="342900" indent="-342900">
              <a:buSzPct val="100000"/>
              <a:buChar char="•"/>
            </a:pPr>
            <a:r>
              <a:rPr lang="en-US" sz="1600" dirty="0">
                <a:solidFill>
                  <a:srgbClr val="374151"/>
                </a:solidFill>
              </a:rPr>
              <a:t>- オージオグラム／Tym／ART／DPOAE を一貫した結果として自動構築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731520" y="3474720"/>
            <a:ext cx="7680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marL="342900" indent="-342900">
              <a:buSzPct val="100000"/>
              <a:buChar char="•"/>
            </a:pPr>
            <a:r>
              <a:rPr lang="en-US" sz="1600" dirty="0">
                <a:solidFill>
                  <a:srgbClr val="374151"/>
                </a:solidFill>
              </a:rPr>
              <a:t>- マスキング値決定の訓練フローを実臨床ルール準拠で再現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731520" y="3931920"/>
            <a:ext cx="7680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374151"/>
                </a:solidFill>
              </a:rPr>
              <a:t>期待効果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731520" y="4389120"/>
            <a:ext cx="7680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marL="342900" indent="-342900">
              <a:buSzPct val="100000"/>
              <a:buChar char="•"/>
            </a:pPr>
            <a:r>
              <a:rPr lang="en-US" sz="1600" dirty="0">
                <a:solidFill>
                  <a:srgbClr val="374151"/>
                </a:solidFill>
              </a:rPr>
              <a:t>- いつでもどこでもマスキング判断を練習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31520" y="4846320"/>
            <a:ext cx="7680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marL="342900" indent="-342900">
              <a:buSzPct val="100000"/>
              <a:buChar char="•"/>
            </a:pPr>
            <a:r>
              <a:rPr lang="en-US" sz="1600" dirty="0">
                <a:solidFill>
                  <a:srgbClr val="374151"/>
                </a:solidFill>
              </a:rPr>
              <a:t>- 症例の多様性確保で学習効率を向上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731520" y="5303520"/>
            <a:ext cx="7680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marL="342900" indent="-342900">
              <a:buSzPct val="100000"/>
              <a:buChar char="•"/>
            </a:pPr>
            <a:r>
              <a:rPr lang="en-US" sz="1600" dirty="0">
                <a:solidFill>
                  <a:srgbClr val="374151"/>
                </a:solidFill>
              </a:rPr>
              <a:t>- 臨床思考を伴う教育コンテンツを低コストで提供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8778240" y="6217920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4A3B8"/>
                </a:solidFill>
              </a:rPr>
              <a:t>4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2937"/>
                </a:solidFill>
              </a:rPr>
              <a:t>AI症例生成フロー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731520" y="1645920"/>
            <a:ext cx="7680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374151"/>
                </a:solidFill>
              </a:rPr>
              <a:t>AI症例生成フロー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731520" y="2103120"/>
            <a:ext cx="7680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374151"/>
                </a:solidFill>
              </a:rPr>
              <a:t>自動生成ステップ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31520" y="2560320"/>
            <a:ext cx="7680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374151"/>
                </a:solidFill>
              </a:rPr>
              <a:t>1. プロファイル決定（性別・年齢・疾患・重症度）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731520" y="3017520"/>
            <a:ext cx="7680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374151"/>
                </a:solidFill>
              </a:rPr>
              <a:t>2. AC/BC 閾値生成（BC ±6dB揺らぎ、ABG ルール適合）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731520" y="3474720"/>
            <a:ext cx="7680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374151"/>
                </a:solidFill>
              </a:rPr>
              <a:t>3. 補助検査生成（Tym／ART／DPOAE を病態ルールで設定）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731520" y="3931920"/>
            <a:ext cx="7680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374151"/>
                </a:solidFill>
              </a:rPr>
              <a:t>4. 整合性チェック（左右差・患側判定・マスキング条件の確認）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731520" y="4389120"/>
            <a:ext cx="7680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374151"/>
                </a:solidFill>
              </a:rPr>
              <a:t>主要ルール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31520" y="4846320"/>
            <a:ext cx="7680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marL="342900" indent="-342900">
              <a:buSzPct val="100000"/>
              <a:buChar char="•"/>
            </a:pPr>
            <a:r>
              <a:rPr lang="en-US" sz="1600" dirty="0">
                <a:solidFill>
                  <a:srgbClr val="374151"/>
                </a:solidFill>
              </a:rPr>
              <a:t>- 正常・SNHL：AC-BC を -10〜+5dB に制約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731520" y="5303520"/>
            <a:ext cx="7680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marL="342900" indent="-342900">
              <a:buSzPct val="100000"/>
              <a:buChar char="•"/>
            </a:pPr>
            <a:r>
              <a:rPr lang="en-US" sz="1600" dirty="0">
                <a:solidFill>
                  <a:srgbClr val="374151"/>
                </a:solidFill>
              </a:rPr>
              <a:t>- CHL：ABG 最大40dB、疾患別に最小ABGを確保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731520" y="5760720"/>
            <a:ext cx="7680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marL="342900" indent="-342900">
              <a:buSzPct val="100000"/>
              <a:buChar char="•"/>
            </a:pPr>
            <a:r>
              <a:rPr lang="en-US" sz="1600" dirty="0">
                <a:solidFill>
                  <a:srgbClr val="374151"/>
                </a:solidFill>
              </a:rPr>
              <a:t>- 離断例：患側ARTはIPSI/CONT欠如、健側CONT閾値上昇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731520" y="6217920"/>
            <a:ext cx="7680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marL="342900" indent="-342900">
              <a:buSzPct val="100000"/>
              <a:buChar char="•"/>
            </a:pPr>
            <a:r>
              <a:rPr lang="en-US" sz="1600" dirty="0">
                <a:solidFill>
                  <a:srgbClr val="374151"/>
                </a:solidFill>
              </a:rPr>
              <a:t>- Tym 縦軸はコンプライアンス&gt;2.0mLで自動的に5.0mLへ拡張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8778240" y="6217920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4A3B8"/>
                </a:solidFill>
              </a:rPr>
              <a:t>5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2937"/>
                </a:solidFill>
              </a:rPr>
              <a:t>マスキング訓練フロー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731520" y="1645920"/>
            <a:ext cx="7680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374151"/>
                </a:solidFill>
              </a:rPr>
              <a:t>マスキング訓練フロー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731520" y="2103120"/>
            <a:ext cx="7680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374151"/>
                </a:solidFill>
              </a:rPr>
              <a:t>手順再現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31520" y="2560320"/>
            <a:ext cx="7680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374151"/>
                </a:solidFill>
              </a:rPr>
              <a:t>1. 擬似患者のオージオグラム提示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731520" y="3017520"/>
            <a:ext cx="7680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374151"/>
                </a:solidFill>
              </a:rPr>
              <a:t>2. 受講者がマスキングレベルを入力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731520" y="3474720"/>
            <a:ext cx="7680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374151"/>
                </a:solidFill>
              </a:rPr>
              <a:t>3. システムが適否を判定し、必要なら補正値のヒントを提示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731520" y="3931920"/>
            <a:ext cx="7680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374151"/>
                </a:solidFill>
              </a:rPr>
              <a:t>4. 誤差・根拠をフィードバックし、判断ロジックを可視化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731520" y="4389120"/>
            <a:ext cx="7680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374151"/>
                </a:solidFill>
              </a:rPr>
              <a:t>特徴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31520" y="4846320"/>
            <a:ext cx="7680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marL="342900" indent="-342900">
              <a:buSzPct val="100000"/>
              <a:buChar char="•"/>
            </a:pPr>
            <a:r>
              <a:rPr lang="en-US" sz="1600" dirty="0">
                <a:solidFill>
                  <a:srgbClr val="374151"/>
                </a:solidFill>
              </a:rPr>
              <a:t>- スイープ操作は省き、マスキングレベル決定に集中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731520" y="5303520"/>
            <a:ext cx="7680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marL="342900" indent="-342900">
              <a:buSzPct val="100000"/>
              <a:buChar char="•"/>
            </a:pPr>
            <a:r>
              <a:rPr lang="en-US" sz="1600" dirty="0">
                <a:solidFill>
                  <a:srgbClr val="374151"/>
                </a:solidFill>
              </a:rPr>
              <a:t>- 右左／患側健側の切り替えやクロスヒアリング警告を再現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731520" y="5760720"/>
            <a:ext cx="7680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marL="342900" indent="-342900">
              <a:buSzPct val="100000"/>
              <a:buChar char="•"/>
            </a:pPr>
            <a:r>
              <a:rPr lang="en-US" sz="1600" dirty="0">
                <a:solidFill>
                  <a:srgbClr val="374151"/>
                </a:solidFill>
              </a:rPr>
              <a:t>- 反復で閾値設定ルールが自然に身に付く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8778240" y="6217920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4A3B8"/>
                </a:solidFill>
              </a:rPr>
              <a:t>6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2937"/>
                </a:solidFill>
              </a:rPr>
              <a:t>学習者UIハイライト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731520" y="1645920"/>
            <a:ext cx="7680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374151"/>
                </a:solidFill>
              </a:rPr>
              <a:t>学習者UIハイライト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731520" y="2103120"/>
            <a:ext cx="7680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374151"/>
                </a:solidFill>
              </a:rPr>
              <a:t>主要画面要素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31520" y="2560320"/>
            <a:ext cx="7680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marL="342900" indent="-342900">
              <a:buSzPct val="100000"/>
              <a:buChar char="•"/>
            </a:pPr>
            <a:r>
              <a:rPr lang="en-US" sz="1600" dirty="0">
                <a:solidFill>
                  <a:srgbClr val="374151"/>
                </a:solidFill>
              </a:rPr>
              <a:t>- Audiogram ビューとマスキング入力パネル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731520" y="3017520"/>
            <a:ext cx="7680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marL="342900" indent="-342900">
              <a:buSzPct val="100000"/>
              <a:buChar char="•"/>
            </a:pPr>
            <a:r>
              <a:rPr lang="en-US" sz="1600" dirty="0">
                <a:solidFill>
                  <a:srgbClr val="374151"/>
                </a:solidFill>
              </a:rPr>
              <a:t>- Tym／ART／DPOAE タブで補助検査を確認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731520" y="3474720"/>
            <a:ext cx="7680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marL="342900" indent="-342900">
              <a:buSzPct val="100000"/>
              <a:buChar char="•"/>
            </a:pPr>
            <a:r>
              <a:rPr lang="en-US" sz="1600" dirty="0">
                <a:solidFill>
                  <a:srgbClr val="374151"/>
                </a:solidFill>
              </a:rPr>
              <a:t>- 答え合わせカードに原プロファイル名（例：SNHL_Sudden）を表示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731520" y="3931920"/>
            <a:ext cx="7680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marL="342900" indent="-342900">
              <a:buSzPct val="100000"/>
              <a:buChar char="•"/>
            </a:pPr>
            <a:r>
              <a:rPr lang="en-US" sz="1600" dirty="0">
                <a:solidFill>
                  <a:srgbClr val="374151"/>
                </a:solidFill>
              </a:rPr>
              <a:t>- 臨床メモ／ヒント表示で判断根拠を解説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731520" y="4389120"/>
            <a:ext cx="7680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374151"/>
                </a:solidFill>
              </a:rPr>
              <a:t>インタラクション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31520" y="4846320"/>
            <a:ext cx="7680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marL="342900" indent="-342900">
              <a:buSzPct val="100000"/>
              <a:buChar char="•"/>
            </a:pPr>
            <a:r>
              <a:rPr lang="en-US" sz="1600" dirty="0">
                <a:solidFill>
                  <a:srgbClr val="374151"/>
                </a:solidFill>
              </a:rPr>
              <a:t>- 入力値に応じてリアルタイムに結果を更新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731520" y="5303520"/>
            <a:ext cx="7680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marL="342900" indent="-342900">
              <a:buSzPct val="100000"/>
              <a:buChar char="•"/>
            </a:pPr>
            <a:r>
              <a:rPr lang="en-US" sz="1600" dirty="0">
                <a:solidFill>
                  <a:srgbClr val="374151"/>
                </a:solidFill>
              </a:rPr>
              <a:t>- 誤判定時は原因と正解の幅を提示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731520" y="5760720"/>
            <a:ext cx="7680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marL="342900" indent="-342900">
              <a:buSzPct val="100000"/>
              <a:buChar char="•"/>
            </a:pPr>
            <a:r>
              <a:rPr lang="en-US" sz="1600" dirty="0">
                <a:solidFill>
                  <a:srgbClr val="374151"/>
                </a:solidFill>
              </a:rPr>
              <a:t>- 症例履歴を蓄積し、苦手傾向を分析可能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8778240" y="6217920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4A3B8"/>
                </a:solidFill>
              </a:rPr>
              <a:t>7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2937"/>
                </a:solidFill>
              </a:rPr>
              <a:t>臨床ルールの組み込み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731520" y="1645920"/>
            <a:ext cx="7680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374151"/>
                </a:solidFill>
              </a:rPr>
              <a:t>臨床ルールの組み込み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731520" y="2103120"/>
            <a:ext cx="7680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374151"/>
                </a:solidFill>
              </a:rPr>
              <a:t>Audiogram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31520" y="2560320"/>
            <a:ext cx="7680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marL="342900" indent="-342900">
              <a:buSzPct val="100000"/>
              <a:buChar char="•"/>
            </a:pPr>
            <a:r>
              <a:rPr lang="en-US" sz="1600" dirty="0">
                <a:solidFill>
                  <a:srgbClr val="374151"/>
                </a:solidFill>
              </a:rPr>
              <a:t>- AC/BC 差の上下限・左右相関をルール化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731520" y="3017520"/>
            <a:ext cx="7680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marL="342900" indent="-342900">
              <a:buSzPct val="100000"/>
              <a:buChar char="•"/>
            </a:pPr>
            <a:r>
              <a:rPr lang="en-US" sz="1600" dirty="0">
                <a:solidFill>
                  <a:srgbClr val="374151"/>
                </a:solidFill>
              </a:rPr>
              <a:t>- BC 値のランダム揺らぎで実症例に近いバリエーション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731520" y="3474720"/>
            <a:ext cx="7680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374151"/>
                </a:solidFill>
              </a:rPr>
              <a:t>Tympanogram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731520" y="3931920"/>
            <a:ext cx="7680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marL="342900" indent="-342900">
              <a:buSzPct val="100000"/>
              <a:buChar char="•"/>
            </a:pPr>
            <a:r>
              <a:rPr lang="en-US" sz="1600" dirty="0">
                <a:solidFill>
                  <a:srgbClr val="374151"/>
                </a:solidFill>
              </a:rPr>
              <a:t>- 患側のみコンプライアンス上昇／健側は正常値を維持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731520" y="4389120"/>
            <a:ext cx="7680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marL="342900" indent="-342900">
              <a:buSzPct val="100000"/>
              <a:buChar char="•"/>
            </a:pPr>
            <a:r>
              <a:rPr lang="en-US" sz="1600" dirty="0">
                <a:solidFill>
                  <a:srgbClr val="374151"/>
                </a:solidFill>
              </a:rPr>
              <a:t>- コンプライアンス2.0mL超でY軸を自動拡大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31520" y="4846320"/>
            <a:ext cx="7680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374151"/>
                </a:solidFill>
              </a:rPr>
              <a:t>ART・DPOAE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731520" y="5303520"/>
            <a:ext cx="7680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marL="342900" indent="-342900">
              <a:buSzPct val="100000"/>
              <a:buChar char="•"/>
            </a:pPr>
            <a:r>
              <a:rPr lang="en-US" sz="1600" dirty="0">
                <a:solidFill>
                  <a:srgbClr val="374151"/>
                </a:solidFill>
              </a:rPr>
              <a:t>- 病態ごとの反射欠如／閾値上昇／PASS/REFER条件を定義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731520" y="5760720"/>
            <a:ext cx="7680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marL="342900" indent="-342900">
              <a:buSzPct val="100000"/>
              <a:buChar char="•"/>
            </a:pPr>
            <a:r>
              <a:rPr lang="en-US" sz="1600" dirty="0">
                <a:solidFill>
                  <a:srgbClr val="374151"/>
                </a:solidFill>
              </a:rPr>
              <a:t>- 補助検査間の矛盾を自動検出し修正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8778240" y="6217920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4A3B8"/>
                </a:solidFill>
              </a:rPr>
              <a:t>8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2937"/>
                </a:solidFill>
              </a:rPr>
              <a:t>臨床教育へのインパクト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731520" y="1645920"/>
            <a:ext cx="7680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374151"/>
                </a:solidFill>
              </a:rPr>
              <a:t>臨床教育へのインパクト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731520" y="2103120"/>
            <a:ext cx="7680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374151"/>
                </a:solidFill>
              </a:rPr>
              <a:t>教育効果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31520" y="2560320"/>
            <a:ext cx="7680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marL="342900" indent="-342900">
              <a:buSzPct val="100000"/>
              <a:buChar char="•"/>
            </a:pPr>
            <a:r>
              <a:rPr lang="en-US" sz="1600" dirty="0">
                <a:solidFill>
                  <a:srgbClr val="374151"/>
                </a:solidFill>
              </a:rPr>
              <a:t>- マスキング判断を数多く体験し臨床感覚を養成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731520" y="3017520"/>
            <a:ext cx="7680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marL="342900" indent="-342900">
              <a:buSzPct val="100000"/>
              <a:buChar char="•"/>
            </a:pPr>
            <a:r>
              <a:rPr lang="en-US" sz="1600" dirty="0">
                <a:solidFill>
                  <a:srgbClr val="374151"/>
                </a:solidFill>
              </a:rPr>
              <a:t>- 症例ごとに補助検査を確認し総合的な診断思考を訓練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731520" y="3474720"/>
            <a:ext cx="7680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marL="342900" indent="-342900">
              <a:buSzPct val="100000"/>
              <a:buChar char="•"/>
            </a:pPr>
            <a:r>
              <a:rPr lang="en-US" sz="1600" dirty="0">
                <a:solidFill>
                  <a:srgbClr val="374151"/>
                </a:solidFill>
              </a:rPr>
              <a:t>- ルールベースのフィードバックで理解を深化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731520" y="3931920"/>
            <a:ext cx="7680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374151"/>
                </a:solidFill>
              </a:rPr>
              <a:t>運用メリット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731520" y="4389120"/>
            <a:ext cx="7680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marL="342900" indent="-342900">
              <a:buSzPct val="100000"/>
              <a:buChar char="•"/>
            </a:pPr>
            <a:r>
              <a:rPr lang="en-US" sz="1600" dirty="0">
                <a:solidFill>
                  <a:srgbClr val="374151"/>
                </a:solidFill>
              </a:rPr>
              <a:t>- Webブラウザのみで利用、設備投資不要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31520" y="4846320"/>
            <a:ext cx="7680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marL="342900" indent="-342900">
              <a:buSzPct val="100000"/>
              <a:buChar char="•"/>
            </a:pPr>
            <a:r>
              <a:rPr lang="en-US" sz="1600" dirty="0">
                <a:solidFill>
                  <a:srgbClr val="374151"/>
                </a:solidFill>
              </a:rPr>
              <a:t>- 学習ログ管理で指導者が進捗を把握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731520" y="5303520"/>
            <a:ext cx="7680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marL="342900" indent="-342900">
              <a:buSzPct val="100000"/>
              <a:buChar char="•"/>
            </a:pPr>
            <a:r>
              <a:rPr lang="en-US" sz="1600" dirty="0">
                <a:solidFill>
                  <a:srgbClr val="374151"/>
                </a:solidFill>
              </a:rPr>
              <a:t>- 症例生成の重み付けを排除し、広範な病態を均等学習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8778240" y="6217920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4A3B8"/>
                </a:solidFill>
              </a:rPr>
              <a:t>9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2937"/>
                </a:solidFill>
              </a:rPr>
              <a:t>システム構成（Mermaid）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731520" y="1645920"/>
            <a:ext cx="7680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374151"/>
                </a:solidFill>
              </a:rPr>
              <a:t>システム構成（Mermaid）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731520" y="2103120"/>
            <a:ext cx="7680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374151"/>
                </a:solidFill>
              </a:rPr>
              <a:t>flowchart TD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31520" y="2560320"/>
            <a:ext cx="7680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374151"/>
                </a:solidFill>
              </a:rPr>
              <a:t>  Start[症例生成リクエスト] --&gt;|プロファイル決定| CaseEngine[AI症例生成エンジン]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731520" y="3017520"/>
            <a:ext cx="7680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374151"/>
                </a:solidFill>
              </a:rPr>
              <a:t>  CaseEngine --&gt; Audiogram[Audiogram描画]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731520" y="3474720"/>
            <a:ext cx="7680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374151"/>
                </a:solidFill>
              </a:rPr>
              <a:t>  Audiogram --&gt; Tests[Tym / ART / DPOAE 自動生成]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731520" y="3931920"/>
            <a:ext cx="7680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374151"/>
                </a:solidFill>
              </a:rPr>
              <a:t>  Tests --&gt; MaskingTrainer[マスキング訓練UI]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731520" y="4389120"/>
            <a:ext cx="7680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374151"/>
                </a:solidFill>
              </a:rPr>
              <a:t>  MaskingTrainer --&gt; Feedback[答え合わせ・フィードバック]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31520" y="4846320"/>
            <a:ext cx="7680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374151"/>
                </a:solidFill>
              </a:rPr>
              <a:t>  Feedback --&gt; LogStore[学習ログ管理]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731520" y="5303520"/>
            <a:ext cx="7315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2563EB"/>
                </a:solidFill>
              </a:rPr>
              <a:t>Mermaid 図は資料参照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8778240" y="6217920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4A3B8"/>
                </a:solidFill>
              </a:rPr>
              <a:t>10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2937"/>
                </a:solidFill>
              </a:rPr>
              <a:t>導入・展開シナリオ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731520" y="1645920"/>
            <a:ext cx="7680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374151"/>
                </a:solidFill>
              </a:rPr>
              <a:t>導入・展開シナリオ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731520" y="2103120"/>
            <a:ext cx="7680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374151"/>
                </a:solidFill>
              </a:rPr>
              <a:t>主な利用先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31520" y="2560320"/>
            <a:ext cx="7680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marL="342900" indent="-342900">
              <a:buSzPct val="100000"/>
              <a:buChar char="•"/>
            </a:pPr>
            <a:r>
              <a:rPr lang="en-US" sz="1600" dirty="0">
                <a:solidFill>
                  <a:srgbClr val="374151"/>
                </a:solidFill>
              </a:rPr>
              <a:t>- 大学・専門学校の聴覚検査実習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731520" y="3017520"/>
            <a:ext cx="7680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marL="342900" indent="-342900">
              <a:buSzPct val="100000"/>
              <a:buChar char="•"/>
            </a:pPr>
            <a:r>
              <a:rPr lang="en-US" sz="1600" dirty="0">
                <a:solidFill>
                  <a:srgbClr val="374151"/>
                </a:solidFill>
              </a:rPr>
              <a:t>- 医療機関の新人研修やリカレント教育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731520" y="3474720"/>
            <a:ext cx="7680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marL="342900" indent="-342900">
              <a:buSzPct val="100000"/>
              <a:buChar char="•"/>
            </a:pPr>
            <a:r>
              <a:rPr lang="en-US" sz="1600" dirty="0">
                <a:solidFill>
                  <a:srgbClr val="374151"/>
                </a:solidFill>
              </a:rPr>
              <a:t>- 個人学習者の資格試験対策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731520" y="3931920"/>
            <a:ext cx="7680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374151"/>
                </a:solidFill>
              </a:rPr>
              <a:t>ビジネスモデル例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731520" y="4389120"/>
            <a:ext cx="7680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marL="342900" indent="-342900">
              <a:buSzPct val="100000"/>
              <a:buChar char="•"/>
            </a:pPr>
            <a:r>
              <a:rPr lang="en-US" sz="1600" dirty="0">
                <a:solidFill>
                  <a:srgbClr val="374151"/>
                </a:solidFill>
              </a:rPr>
              <a:t>- 教育機関向け年間ライセンス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31520" y="4846320"/>
            <a:ext cx="7680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marL="342900" indent="-342900">
              <a:buSzPct val="100000"/>
              <a:buChar char="•"/>
            </a:pPr>
            <a:r>
              <a:rPr lang="en-US" sz="1600" dirty="0">
                <a:solidFill>
                  <a:srgbClr val="374151"/>
                </a:solidFill>
              </a:rPr>
              <a:t>- 医療機関向け施設パッケージ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731520" y="5303520"/>
            <a:ext cx="7680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marL="342900" indent="-342900">
              <a:buSzPct val="100000"/>
              <a:buChar char="•"/>
            </a:pPr>
            <a:r>
              <a:rPr lang="en-US" sz="1600" dirty="0">
                <a:solidFill>
                  <a:srgbClr val="374151"/>
                </a:solidFill>
              </a:rPr>
              <a:t>- 個人向けサブスクリプション＋症例パック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8778240" y="6217920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4A3B8"/>
                </a:solidFill>
              </a:rPr>
              <a:t>11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2937"/>
                </a:solidFill>
              </a:rPr>
              <a:t>開発状況とロードマップ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731520" y="1645920"/>
            <a:ext cx="7680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374151"/>
                </a:solidFill>
              </a:rPr>
              <a:t>開発状況とロードマップ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731520" y="2103120"/>
            <a:ext cx="7680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374151"/>
                </a:solidFill>
              </a:rPr>
              <a:t>現在の実装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31520" y="2560320"/>
            <a:ext cx="7680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marL="342900" indent="-342900">
              <a:buSzPct val="100000"/>
              <a:buChar char="•"/>
            </a:pPr>
            <a:r>
              <a:rPr lang="en-US" sz="1600" dirty="0">
                <a:solidFill>
                  <a:srgbClr val="374151"/>
                </a:solidFill>
              </a:rPr>
              <a:t>- AI症例生成・補助検査自動描画を実装済み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731520" y="3017520"/>
            <a:ext cx="7680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marL="342900" indent="-342900">
              <a:buSzPct val="100000"/>
              <a:buChar char="•"/>
            </a:pPr>
            <a:r>
              <a:rPr lang="en-US" sz="1600" dirty="0">
                <a:solidFill>
                  <a:srgbClr val="374151"/>
                </a:solidFill>
              </a:rPr>
              <a:t>- マスキング訓練UIとフィードバックロジックを実装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731520" y="3474720"/>
            <a:ext cx="7680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marL="342900" indent="-342900">
              <a:buSzPct val="100000"/>
              <a:buChar char="•"/>
            </a:pPr>
            <a:r>
              <a:rPr lang="en-US" sz="1600" dirty="0">
                <a:solidFill>
                  <a:srgbClr val="374151"/>
                </a:solidFill>
              </a:rPr>
              <a:t>- GitHub / Vercel で継続的デプロイ運用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731520" y="3931920"/>
            <a:ext cx="7680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374151"/>
                </a:solidFill>
              </a:rPr>
              <a:t>今後の計画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731520" y="4389120"/>
            <a:ext cx="7680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marL="342900" indent="-342900">
              <a:buSzPct val="100000"/>
              <a:buChar char="•"/>
            </a:pPr>
            <a:r>
              <a:rPr lang="en-US" sz="1600" dirty="0">
                <a:solidFill>
                  <a:srgbClr val="374151"/>
                </a:solidFill>
              </a:rPr>
              <a:t>- 訓練シナリオの拡充（症例・難易度設定）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31520" y="4846320"/>
            <a:ext cx="7680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marL="342900" indent="-342900">
              <a:buSzPct val="100000"/>
              <a:buChar char="•"/>
            </a:pPr>
            <a:r>
              <a:rPr lang="en-US" sz="1600" dirty="0">
                <a:solidFill>
                  <a:srgbClr val="374151"/>
                </a:solidFill>
              </a:rPr>
              <a:t>- LMS連携・学習分析機能の追加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731520" y="5303520"/>
            <a:ext cx="7680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marL="342900" indent="-342900">
              <a:buSzPct val="100000"/>
              <a:buChar char="•"/>
            </a:pPr>
            <a:r>
              <a:rPr lang="en-US" sz="1600" dirty="0">
                <a:solidFill>
                  <a:srgbClr val="374151"/>
                </a:solidFill>
              </a:rPr>
              <a:t>- 実機インターフェース（オージオメータI/O）との接続検証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8778240" y="6217920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4A3B8"/>
                </a:solidFill>
              </a:rPr>
              <a:t>12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2937"/>
                </a:solidFill>
              </a:rPr>
              <a:t>まとめ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731520" y="1645920"/>
            <a:ext cx="7680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374151"/>
                </a:solidFill>
              </a:rPr>
              <a:t>まとめ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731520" y="2103120"/>
            <a:ext cx="7680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374151"/>
                </a:solidFill>
              </a:rPr>
              <a:t>提供価値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31520" y="2560320"/>
            <a:ext cx="7680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marL="342900" indent="-342900">
              <a:buSzPct val="100000"/>
              <a:buChar char="•"/>
            </a:pPr>
            <a:r>
              <a:rPr lang="en-US" sz="1600" dirty="0">
                <a:solidFill>
                  <a:srgbClr val="374151"/>
                </a:solidFill>
              </a:rPr>
              <a:t>- 臨床ルール準拠のAI擬似患者でマスキング判断を体系学習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731520" y="3017520"/>
            <a:ext cx="7680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marL="342900" indent="-342900">
              <a:buSzPct val="100000"/>
              <a:buChar char="•"/>
            </a:pPr>
            <a:r>
              <a:rPr lang="en-US" sz="1600" dirty="0">
                <a:solidFill>
                  <a:srgbClr val="374151"/>
                </a:solidFill>
              </a:rPr>
              <a:t>- 補助検査との整合を保ち臨床思考を深める教育体験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731520" y="3474720"/>
            <a:ext cx="7680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marL="342900" indent="-342900">
              <a:buSzPct val="100000"/>
              <a:buChar char="•"/>
            </a:pPr>
            <a:r>
              <a:rPr lang="en-US" sz="1600" dirty="0">
                <a:solidFill>
                  <a:srgbClr val="374151"/>
                </a:solidFill>
              </a:rPr>
              <a:t>- 教育・研修・特許戦略に活用可能な先進的プラットフォーム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731520" y="3931920"/>
            <a:ext cx="7680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374151"/>
                </a:solidFill>
              </a:rPr>
              <a:t>次のアクション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731520" y="4389120"/>
            <a:ext cx="7680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marL="342900" indent="-342900">
              <a:buSzPct val="100000"/>
              <a:buChar char="•"/>
            </a:pPr>
            <a:r>
              <a:rPr lang="en-US" sz="1600" dirty="0">
                <a:solidFill>
                  <a:srgbClr val="374151"/>
                </a:solidFill>
              </a:rPr>
              <a:t>- デモ提供・導入検討先への提案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31520" y="4846320"/>
            <a:ext cx="7680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marL="342900" indent="-342900">
              <a:buSzPct val="100000"/>
              <a:buChar char="•"/>
            </a:pPr>
            <a:r>
              <a:rPr lang="en-US" sz="1600" dirty="0">
                <a:solidFill>
                  <a:srgbClr val="374151"/>
                </a:solidFill>
              </a:rPr>
              <a:t>- 学習ログ活用による指導者支援機能の設計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731520" y="5303520"/>
            <a:ext cx="7680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marL="342900" indent="-342900">
              <a:buSzPct val="100000"/>
              <a:buChar char="•"/>
            </a:pPr>
            <a:r>
              <a:rPr lang="en-US" sz="1600" dirty="0">
                <a:solidFill>
                  <a:srgbClr val="374151"/>
                </a:solidFill>
              </a:rPr>
              <a:t>- 特許出願と事業化準備の加速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8778240" y="6217920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4A3B8"/>
                </a:solidFill>
              </a:rPr>
              <a:t>13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2025-11-08T01:21:28Z</dcterms:created>
  <dcterms:modified xsi:type="dcterms:W3CDTF">2025-11-08T01:21:28Z</dcterms:modified>
</cp:coreProperties>
</file>