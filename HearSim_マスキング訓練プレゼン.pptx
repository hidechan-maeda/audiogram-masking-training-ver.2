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57200"/>
            <a:ext cx="8229600" cy="731520"/>
          </a:xfrm>
          <a:prstGeom prst="rect">
            <a:avLst/>
          </a:prstGeom>
          <a:noFill/>
          <a:ln/>
        </p:spPr>
        <p:txBody>
          <a:bodyPr wrap="square" rtlCol="0" anchor="ctr"/>
          <a:lstStyle/>
          <a:p>
            <a:pPr algn="l" indent="0" marL="0">
              <a:buNone/>
            </a:pPr>
            <a:r>
              <a:rPr lang="en-US" sz="3200" b="1" dirty="0">
                <a:solidFill>
                  <a:srgbClr val="1F2937"/>
                </a:solidFill>
              </a:rPr>
              <a:t>スライド 1</a:t>
            </a:r>
            <a:endParaRPr lang="en-US" sz="3200" dirty="0"/>
          </a:p>
        </p:txBody>
      </p:sp>
      <p:sp>
        <p:nvSpPr>
          <p:cNvPr id="3" name="Text 1"/>
          <p:cNvSpPr/>
          <p:nvPr/>
        </p:nvSpPr>
        <p:spPr>
          <a:xfrm>
            <a:off x="731520" y="1645920"/>
            <a:ext cx="7680960" cy="457200"/>
          </a:xfrm>
          <a:prstGeom prst="rect">
            <a:avLst/>
          </a:prstGeom>
          <a:noFill/>
          <a:ln/>
        </p:spPr>
        <p:txBody>
          <a:bodyPr wrap="square" rtlCol="0" anchor="ctr"/>
          <a:lstStyle/>
          <a:p>
            <a:pPr algn="l" indent="0" marL="0">
              <a:buNone/>
            </a:pPr>
            <a:r>
              <a:rPr lang="en-US" sz="1600" dirty="0">
                <a:solidFill>
                  <a:srgbClr val="374151"/>
                </a:solidFill>
              </a:rPr>
              <a:t>AI聴覚シミュレーショントレーニング プレゼン資料</a:t>
            </a:r>
            <a:endParaRPr lang="en-US" sz="1600" dirty="0"/>
          </a:p>
        </p:txBody>
      </p:sp>
      <p:sp>
        <p:nvSpPr>
          <p:cNvPr id="4" name="Text 2"/>
          <p:cNvSpPr/>
          <p:nvPr/>
        </p:nvSpPr>
        <p:spPr>
          <a:xfrm>
            <a:off x="731520" y="2103120"/>
            <a:ext cx="7680960" cy="457200"/>
          </a:xfrm>
          <a:prstGeom prst="rect">
            <a:avLst/>
          </a:prstGeom>
          <a:noFill/>
          <a:ln/>
        </p:spPr>
        <p:txBody>
          <a:bodyPr wrap="square" rtlCol="0" anchor="ctr"/>
          <a:lstStyle/>
          <a:p>
            <a:pPr algn="l" indent="0" marL="0">
              <a:buNone/>
            </a:pPr>
            <a:r>
              <a:rPr lang="en-US" sz="1600" dirty="0">
                <a:solidFill>
                  <a:srgbClr val="374151"/>
                </a:solidFill>
              </a:rPr>
              <a:t>AI症例生成からマスキング判断までを一気通貫で学習するプラットフォーム</a:t>
            </a:r>
            <a:endParaRPr lang="en-US" sz="1600" dirty="0"/>
          </a:p>
        </p:txBody>
      </p:sp>
      <p:sp>
        <p:nvSpPr>
          <p:cNvPr id="5" name="Text 3"/>
          <p:cNvSpPr/>
          <p:nvPr/>
        </p:nvSpPr>
        <p:spPr>
          <a:xfrm>
            <a:off x="8778240" y="6217920"/>
            <a:ext cx="365760" cy="274320"/>
          </a:xfrm>
          <a:prstGeom prst="rect">
            <a:avLst/>
          </a:prstGeom>
          <a:noFill/>
          <a:ln/>
        </p:spPr>
        <p:txBody>
          <a:bodyPr wrap="square" rtlCol="0" anchor="ctr"/>
          <a:lstStyle/>
          <a:p>
            <a:pPr algn="r" indent="0" marL="0">
              <a:buNone/>
            </a:pPr>
            <a:r>
              <a:rPr lang="en-US" sz="1200" dirty="0">
                <a:solidFill>
                  <a:srgbClr val="94A3B8"/>
                </a:solidFill>
              </a:rPr>
              <a:t>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57200"/>
            <a:ext cx="8229600" cy="731520"/>
          </a:xfrm>
          <a:prstGeom prst="rect">
            <a:avLst/>
          </a:prstGeom>
          <a:noFill/>
          <a:ln/>
        </p:spPr>
        <p:txBody>
          <a:bodyPr wrap="square" rtlCol="0" anchor="ctr"/>
          <a:lstStyle/>
          <a:p>
            <a:pPr algn="l" indent="0" marL="0">
              <a:buNone/>
            </a:pPr>
            <a:r>
              <a:rPr lang="en-US" sz="3200" b="1" dirty="0">
                <a:solidFill>
                  <a:srgbClr val="1F2937"/>
                </a:solidFill>
              </a:rPr>
              <a:t>タイトル</a:t>
            </a:r>
            <a:endParaRPr lang="en-US" sz="3200" dirty="0"/>
          </a:p>
        </p:txBody>
      </p:sp>
      <p:sp>
        <p:nvSpPr>
          <p:cNvPr id="3" name="Text 1"/>
          <p:cNvSpPr/>
          <p:nvPr/>
        </p:nvSpPr>
        <p:spPr>
          <a:xfrm>
            <a:off x="731520" y="1645920"/>
            <a:ext cx="7680960" cy="457200"/>
          </a:xfrm>
          <a:prstGeom prst="rect">
            <a:avLst/>
          </a:prstGeom>
          <a:noFill/>
          <a:ln/>
        </p:spPr>
        <p:txBody>
          <a:bodyPr wrap="square" rtlCol="0" anchor="ctr"/>
          <a:lstStyle/>
          <a:p>
            <a:pPr algn="l" indent="0" marL="0">
              <a:buNone/>
            </a:pPr>
            <a:r>
              <a:rPr lang="en-US" sz="1600" dirty="0">
                <a:solidFill>
                  <a:srgbClr val="374151"/>
                </a:solidFill>
              </a:rPr>
              <a:t>タイトル</a:t>
            </a:r>
            <a:endParaRPr lang="en-US" sz="1600" dirty="0"/>
          </a:p>
        </p:txBody>
      </p:sp>
      <p:sp>
        <p:nvSpPr>
          <p:cNvPr id="4" name="Text 2"/>
          <p:cNvSpPr/>
          <p:nvPr/>
        </p:nvSpPr>
        <p:spPr>
          <a:xfrm>
            <a:off x="731520" y="2103120"/>
            <a:ext cx="7680960" cy="457200"/>
          </a:xfrm>
          <a:prstGeom prst="rect">
            <a:avLst/>
          </a:prstGeom>
          <a:noFill/>
          <a:ln/>
        </p:spPr>
        <p:txBody>
          <a:bodyPr wrap="square" rtlCol="0" anchor="ctr"/>
          <a:lstStyle/>
          <a:p>
            <a:pPr algn="l" indent="0" marL="0">
              <a:buNone/>
            </a:pPr>
            <a:r>
              <a:rPr lang="en-US" sz="1600" dirty="0">
                <a:solidFill>
                  <a:srgbClr val="374151"/>
                </a:solidFill>
              </a:rPr>
              <a:t>AI聴覚検査シミュレーション</a:t>
            </a:r>
            <a:endParaRPr lang="en-US" sz="1600" dirty="0"/>
          </a:p>
        </p:txBody>
      </p:sp>
      <p:sp>
        <p:nvSpPr>
          <p:cNvPr id="5" name="Text 3"/>
          <p:cNvSpPr/>
          <p:nvPr/>
        </p:nvSpPr>
        <p:spPr>
          <a:xfrm>
            <a:off x="731520" y="2560320"/>
            <a:ext cx="7680960" cy="457200"/>
          </a:xfrm>
          <a:prstGeom prst="rect">
            <a:avLst/>
          </a:prstGeom>
          <a:noFill/>
          <a:ln/>
        </p:spPr>
        <p:txBody>
          <a:bodyPr wrap="square" rtlCol="0" anchor="ctr"/>
          <a:lstStyle/>
          <a:p>
            <a:pPr algn="l" indent="0" marL="0">
              <a:buNone/>
            </a:pPr>
            <a:r>
              <a:rPr lang="en-US" sz="1600" dirty="0">
                <a:solidFill>
                  <a:srgbClr val="374151"/>
                </a:solidFill>
              </a:rPr>
              <a:t>自動症例生成からマスキング判断までの統合トレーニング</a:t>
            </a:r>
            <a:endParaRPr lang="en-US" sz="1600" dirty="0"/>
          </a:p>
        </p:txBody>
      </p:sp>
      <p:sp>
        <p:nvSpPr>
          <p:cNvPr id="6" name="Text 4"/>
          <p:cNvSpPr/>
          <p:nvPr/>
        </p:nvSpPr>
        <p:spPr>
          <a:xfrm>
            <a:off x="731520" y="3017520"/>
            <a:ext cx="7680960" cy="457200"/>
          </a:xfrm>
          <a:prstGeom prst="rect">
            <a:avLst/>
          </a:prstGeom>
          <a:noFill/>
          <a:ln/>
        </p:spPr>
        <p:txBody>
          <a:bodyPr wrap="square" rtlCol="0" anchor="ctr"/>
          <a:lstStyle/>
          <a:p>
            <a:pPr algn="l" indent="0" marL="0">
              <a:buNone/>
            </a:pPr>
            <a:r>
              <a:rPr lang="en-US" sz="1600" dirty="0">
                <a:solidFill>
                  <a:srgbClr val="374151"/>
                </a:solidFill>
              </a:rPr>
              <a:t>発表者：＿＿／所属：＿＿／日付：＿＿</a:t>
            </a:r>
            <a:endParaRPr lang="en-US" sz="1600" dirty="0"/>
          </a:p>
        </p:txBody>
      </p:sp>
      <p:sp>
        <p:nvSpPr>
          <p:cNvPr id="7" name="Text 5"/>
          <p:cNvSpPr/>
          <p:nvPr/>
        </p:nvSpPr>
        <p:spPr>
          <a:xfrm>
            <a:off x="8778240" y="6217920"/>
            <a:ext cx="365760" cy="274320"/>
          </a:xfrm>
          <a:prstGeom prst="rect">
            <a:avLst/>
          </a:prstGeom>
          <a:noFill/>
          <a:ln/>
        </p:spPr>
        <p:txBody>
          <a:bodyPr wrap="square" rtlCol="0" anchor="ctr"/>
          <a:lstStyle/>
          <a:p>
            <a:pPr algn="r" indent="0" marL="0">
              <a:buNone/>
            </a:pPr>
            <a:r>
              <a:rPr lang="en-US" sz="1200" dirty="0">
                <a:solidFill>
                  <a:srgbClr val="94A3B8"/>
                </a:solidFill>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57200"/>
            <a:ext cx="8229600" cy="731520"/>
          </a:xfrm>
          <a:prstGeom prst="rect">
            <a:avLst/>
          </a:prstGeom>
          <a:noFill/>
          <a:ln/>
        </p:spPr>
        <p:txBody>
          <a:bodyPr wrap="square" rtlCol="0" anchor="ctr"/>
          <a:lstStyle/>
          <a:p>
            <a:pPr algn="l" indent="0" marL="0">
              <a:buNone/>
            </a:pPr>
            <a:r>
              <a:rPr lang="en-US" sz="3200" b="1" dirty="0">
                <a:solidFill>
                  <a:srgbClr val="1F2937"/>
                </a:solidFill>
              </a:rPr>
              <a:t>ゴール</a:t>
            </a:r>
            <a:endParaRPr lang="en-US" sz="3200" dirty="0"/>
          </a:p>
        </p:txBody>
      </p:sp>
      <p:sp>
        <p:nvSpPr>
          <p:cNvPr id="3" name="Text 1"/>
          <p:cNvSpPr/>
          <p:nvPr/>
        </p:nvSpPr>
        <p:spPr>
          <a:xfrm>
            <a:off x="731520" y="1645920"/>
            <a:ext cx="7680960" cy="457200"/>
          </a:xfrm>
          <a:prstGeom prst="rect">
            <a:avLst/>
          </a:prstGeom>
          <a:noFill/>
          <a:ln/>
        </p:spPr>
        <p:txBody>
          <a:bodyPr wrap="square" rtlCol="0" anchor="ctr"/>
          <a:lstStyle/>
          <a:p>
            <a:pPr algn="l" indent="0" marL="0">
              <a:buNone/>
            </a:pPr>
            <a:r>
              <a:rPr lang="en-US" sz="1600" dirty="0">
                <a:solidFill>
                  <a:srgbClr val="374151"/>
                </a:solidFill>
              </a:rPr>
              <a:t>ゴール</a:t>
            </a:r>
            <a:endParaRPr lang="en-US" sz="1600" dirty="0"/>
          </a:p>
        </p:txBody>
      </p:sp>
      <p:sp>
        <p:nvSpPr>
          <p:cNvPr id="4" name="Text 2"/>
          <p:cNvSpPr/>
          <p:nvPr/>
        </p:nvSpPr>
        <p:spPr>
          <a:xfrm>
            <a:off x="731520" y="2103120"/>
            <a:ext cx="7680960" cy="457200"/>
          </a:xfrm>
          <a:prstGeom prst="rect">
            <a:avLst/>
          </a:prstGeom>
          <a:noFill/>
          <a:ln/>
        </p:spPr>
        <p:txBody>
          <a:bodyPr wrap="square" rtlCol="0" anchor="ctr"/>
          <a:lstStyle/>
          <a:p>
            <a:pPr algn="l" indent="0" marL="0">
              <a:buNone/>
            </a:pPr>
            <a:r>
              <a:rPr lang="en-US" sz="1600" dirty="0">
                <a:solidFill>
                  <a:srgbClr val="374151"/>
                </a:solidFill>
              </a:rPr>
              <a:t>本プレゼンで伝えること</a:t>
            </a:r>
            <a:endParaRPr lang="en-US" sz="1600" dirty="0"/>
          </a:p>
        </p:txBody>
      </p:sp>
      <p:sp>
        <p:nvSpPr>
          <p:cNvPr id="5" name="Text 3"/>
          <p:cNvSpPr/>
          <p:nvPr/>
        </p:nvSpPr>
        <p:spPr>
          <a:xfrm>
            <a:off x="731520" y="2560320"/>
            <a:ext cx="7680960" cy="457200"/>
          </a:xfrm>
          <a:prstGeom prst="rect">
            <a:avLst/>
          </a:prstGeom>
          <a:noFill/>
          <a:ln/>
        </p:spPr>
        <p:txBody>
          <a:bodyPr wrap="square" rtlCol="0" anchor="ctr"/>
          <a:lstStyle/>
          <a:p>
            <a:pPr algn="l" marL="342900" indent="-342900">
              <a:buSzPct val="100000"/>
              <a:buChar char="•"/>
            </a:pPr>
            <a:r>
              <a:rPr lang="en-US" sz="1600" dirty="0">
                <a:solidFill>
                  <a:srgbClr val="374151"/>
                </a:solidFill>
              </a:rPr>
              <a:t>- AI が臨床ルール準拠の擬似症例を自動生成</a:t>
            </a:r>
            <a:endParaRPr lang="en-US" sz="1600" dirty="0"/>
          </a:p>
        </p:txBody>
      </p:sp>
      <p:sp>
        <p:nvSpPr>
          <p:cNvPr id="6" name="Text 4"/>
          <p:cNvSpPr/>
          <p:nvPr/>
        </p:nvSpPr>
        <p:spPr>
          <a:xfrm>
            <a:off x="731520" y="3017520"/>
            <a:ext cx="7680960" cy="457200"/>
          </a:xfrm>
          <a:prstGeom prst="rect">
            <a:avLst/>
          </a:prstGeom>
          <a:noFill/>
          <a:ln/>
        </p:spPr>
        <p:txBody>
          <a:bodyPr wrap="square" rtlCol="0" anchor="ctr"/>
          <a:lstStyle/>
          <a:p>
            <a:pPr algn="l" marL="342900" indent="-342900">
              <a:buSzPct val="100000"/>
              <a:buChar char="•"/>
            </a:pPr>
            <a:r>
              <a:rPr lang="en-US" sz="1600" dirty="0">
                <a:solidFill>
                  <a:srgbClr val="374151"/>
                </a:solidFill>
              </a:rPr>
              <a:t>- AC/BC 測定→マスキング判定→結果照合までを模擬</a:t>
            </a:r>
            <a:endParaRPr lang="en-US" sz="1600" dirty="0"/>
          </a:p>
        </p:txBody>
      </p:sp>
      <p:sp>
        <p:nvSpPr>
          <p:cNvPr id="7" name="Text 5"/>
          <p:cNvSpPr/>
          <p:nvPr/>
        </p:nvSpPr>
        <p:spPr>
          <a:xfrm>
            <a:off x="731520" y="3474720"/>
            <a:ext cx="7680960" cy="457200"/>
          </a:xfrm>
          <a:prstGeom prst="rect">
            <a:avLst/>
          </a:prstGeom>
          <a:noFill/>
          <a:ln/>
        </p:spPr>
        <p:txBody>
          <a:bodyPr wrap="square" rtlCol="0" anchor="ctr"/>
          <a:lstStyle/>
          <a:p>
            <a:pPr algn="l" marL="342900" indent="-342900">
              <a:buSzPct val="100000"/>
              <a:buChar char="•"/>
            </a:pPr>
            <a:r>
              <a:rPr lang="en-US" sz="1600" dirty="0">
                <a:solidFill>
                  <a:srgbClr val="374151"/>
                </a:solidFill>
              </a:rPr>
              <a:t>- クロスヒアリング／オーバーマスキング判断を反復学習</a:t>
            </a:r>
            <a:endParaRPr lang="en-US" sz="1600" dirty="0"/>
          </a:p>
        </p:txBody>
      </p:sp>
      <p:sp>
        <p:nvSpPr>
          <p:cNvPr id="8" name="Text 6"/>
          <p:cNvSpPr/>
          <p:nvPr/>
        </p:nvSpPr>
        <p:spPr>
          <a:xfrm>
            <a:off x="731520" y="3931920"/>
            <a:ext cx="7680960" cy="457200"/>
          </a:xfrm>
          <a:prstGeom prst="rect">
            <a:avLst/>
          </a:prstGeom>
          <a:noFill/>
          <a:ln/>
        </p:spPr>
        <p:txBody>
          <a:bodyPr wrap="square" rtlCol="0" anchor="ctr"/>
          <a:lstStyle/>
          <a:p>
            <a:pPr algn="l" indent="0" marL="0">
              <a:buNone/>
            </a:pPr>
            <a:r>
              <a:rPr lang="en-US" sz="1600" dirty="0">
                <a:solidFill>
                  <a:srgbClr val="374151"/>
                </a:solidFill>
              </a:rPr>
              <a:t>受講者の到達点</a:t>
            </a:r>
            <a:endParaRPr lang="en-US" sz="1600" dirty="0"/>
          </a:p>
        </p:txBody>
      </p:sp>
      <p:sp>
        <p:nvSpPr>
          <p:cNvPr id="9" name="Text 7"/>
          <p:cNvSpPr/>
          <p:nvPr/>
        </p:nvSpPr>
        <p:spPr>
          <a:xfrm>
            <a:off x="731520" y="4389120"/>
            <a:ext cx="7680960" cy="457200"/>
          </a:xfrm>
          <a:prstGeom prst="rect">
            <a:avLst/>
          </a:prstGeom>
          <a:noFill/>
          <a:ln/>
        </p:spPr>
        <p:txBody>
          <a:bodyPr wrap="square" rtlCol="0" anchor="ctr"/>
          <a:lstStyle/>
          <a:p>
            <a:pPr algn="l" marL="342900" indent="-342900">
              <a:buSzPct val="100000"/>
              <a:buChar char="•"/>
            </a:pPr>
            <a:r>
              <a:rPr lang="en-US" sz="1600" dirty="0">
                <a:solidFill>
                  <a:srgbClr val="374151"/>
                </a:solidFill>
              </a:rPr>
              <a:t>- マスキング量設定の根拠を言語化できる</a:t>
            </a:r>
            <a:endParaRPr lang="en-US" sz="1600" dirty="0"/>
          </a:p>
        </p:txBody>
      </p:sp>
      <p:sp>
        <p:nvSpPr>
          <p:cNvPr id="10" name="Text 8"/>
          <p:cNvSpPr/>
          <p:nvPr/>
        </p:nvSpPr>
        <p:spPr>
          <a:xfrm>
            <a:off x="731520" y="4846320"/>
            <a:ext cx="7680960" cy="457200"/>
          </a:xfrm>
          <a:prstGeom prst="rect">
            <a:avLst/>
          </a:prstGeom>
          <a:noFill/>
          <a:ln/>
        </p:spPr>
        <p:txBody>
          <a:bodyPr wrap="square" rtlCol="0" anchor="ctr"/>
          <a:lstStyle/>
          <a:p>
            <a:pPr algn="l" marL="342900" indent="-342900">
              <a:buSzPct val="100000"/>
              <a:buChar char="•"/>
            </a:pPr>
            <a:r>
              <a:rPr lang="en-US" sz="1600" dirty="0">
                <a:solidFill>
                  <a:srgbClr val="374151"/>
                </a:solidFill>
              </a:rPr>
              <a:t>- クロスヒアリング／オーバーマスキングの兆候を説明できる</a:t>
            </a:r>
            <a:endParaRPr lang="en-US" sz="1600" dirty="0"/>
          </a:p>
        </p:txBody>
      </p:sp>
      <p:sp>
        <p:nvSpPr>
          <p:cNvPr id="11" name="Text 9"/>
          <p:cNvSpPr/>
          <p:nvPr/>
        </p:nvSpPr>
        <p:spPr>
          <a:xfrm>
            <a:off x="731520" y="5303520"/>
            <a:ext cx="7680960" cy="457200"/>
          </a:xfrm>
          <a:prstGeom prst="rect">
            <a:avLst/>
          </a:prstGeom>
          <a:noFill/>
          <a:ln/>
        </p:spPr>
        <p:txBody>
          <a:bodyPr wrap="square" rtlCol="0" anchor="ctr"/>
          <a:lstStyle/>
          <a:p>
            <a:pPr algn="l" marL="342900" indent="-342900">
              <a:buSzPct val="100000"/>
              <a:buChar char="•"/>
            </a:pPr>
            <a:r>
              <a:rPr lang="en-US" sz="1600" dirty="0">
                <a:solidFill>
                  <a:srgbClr val="374151"/>
                </a:solidFill>
              </a:rPr>
              <a:t>- 結果照合とフィードバックの重要性を理解する</a:t>
            </a:r>
            <a:endParaRPr lang="en-US" sz="1600" dirty="0"/>
          </a:p>
        </p:txBody>
      </p:sp>
      <p:sp>
        <p:nvSpPr>
          <p:cNvPr id="12" name="Text 10"/>
          <p:cNvSpPr/>
          <p:nvPr/>
        </p:nvSpPr>
        <p:spPr>
          <a:xfrm>
            <a:off x="8778240" y="6217920"/>
            <a:ext cx="365760" cy="274320"/>
          </a:xfrm>
          <a:prstGeom prst="rect">
            <a:avLst/>
          </a:prstGeom>
          <a:noFill/>
          <a:ln/>
        </p:spPr>
        <p:txBody>
          <a:bodyPr wrap="square" rtlCol="0" anchor="ctr"/>
          <a:lstStyle/>
          <a:p>
            <a:pPr algn="r" indent="0" marL="0">
              <a:buNone/>
            </a:pPr>
            <a:r>
              <a:rPr lang="en-US" sz="1200" dirty="0">
                <a:solidFill>
                  <a:srgbClr val="94A3B8"/>
                </a:solidFill>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57200"/>
            <a:ext cx="8229600" cy="731520"/>
          </a:xfrm>
          <a:prstGeom prst="rect">
            <a:avLst/>
          </a:prstGeom>
          <a:noFill/>
          <a:ln/>
        </p:spPr>
        <p:txBody>
          <a:bodyPr wrap="square" rtlCol="0" anchor="ctr"/>
          <a:lstStyle/>
          <a:p>
            <a:pPr algn="l" indent="0" marL="0">
              <a:buNone/>
            </a:pPr>
            <a:r>
              <a:rPr lang="en-US" sz="3200" b="1" dirty="0">
                <a:solidFill>
                  <a:srgbClr val="1F2937"/>
                </a:solidFill>
              </a:rPr>
              <a:t>AI症例自動生成フロー</a:t>
            </a:r>
            <a:endParaRPr lang="en-US" sz="3200" dirty="0"/>
          </a:p>
        </p:txBody>
      </p:sp>
      <p:sp>
        <p:nvSpPr>
          <p:cNvPr id="3" name="Text 1"/>
          <p:cNvSpPr/>
          <p:nvPr/>
        </p:nvSpPr>
        <p:spPr>
          <a:xfrm>
            <a:off x="731520" y="1645920"/>
            <a:ext cx="7680960" cy="457200"/>
          </a:xfrm>
          <a:prstGeom prst="rect">
            <a:avLst/>
          </a:prstGeom>
          <a:noFill/>
          <a:ln/>
        </p:spPr>
        <p:txBody>
          <a:bodyPr wrap="square" rtlCol="0" anchor="ctr"/>
          <a:lstStyle/>
          <a:p>
            <a:pPr algn="l" indent="0" marL="0">
              <a:buNone/>
            </a:pPr>
            <a:r>
              <a:rPr lang="en-US" sz="1600" dirty="0">
                <a:solidFill>
                  <a:srgbClr val="374151"/>
                </a:solidFill>
              </a:rPr>
              <a:t>AI症例自動生成フロー</a:t>
            </a:r>
            <a:endParaRPr lang="en-US" sz="1600" dirty="0"/>
          </a:p>
        </p:txBody>
      </p:sp>
      <p:sp>
        <p:nvSpPr>
          <p:cNvPr id="4" name="Text 2"/>
          <p:cNvSpPr/>
          <p:nvPr/>
        </p:nvSpPr>
        <p:spPr>
          <a:xfrm>
            <a:off x="731520" y="2103120"/>
            <a:ext cx="7680960" cy="457200"/>
          </a:xfrm>
          <a:prstGeom prst="rect">
            <a:avLst/>
          </a:prstGeom>
          <a:noFill/>
          <a:ln/>
        </p:spPr>
        <p:txBody>
          <a:bodyPr wrap="square" rtlCol="0" anchor="ctr"/>
          <a:lstStyle/>
          <a:p>
            <a:pPr algn="l" indent="0" marL="0">
              <a:buNone/>
            </a:pPr>
            <a:r>
              <a:rPr lang="en-US" sz="1600" dirty="0">
                <a:solidFill>
                  <a:srgbClr val="374151"/>
                </a:solidFill>
              </a:rPr>
              <a:t>ステップ</a:t>
            </a:r>
            <a:endParaRPr lang="en-US" sz="1600" dirty="0"/>
          </a:p>
        </p:txBody>
      </p:sp>
      <p:sp>
        <p:nvSpPr>
          <p:cNvPr id="5" name="Text 3"/>
          <p:cNvSpPr/>
          <p:nvPr/>
        </p:nvSpPr>
        <p:spPr>
          <a:xfrm>
            <a:off x="731520" y="2560320"/>
            <a:ext cx="7680960" cy="457200"/>
          </a:xfrm>
          <a:prstGeom prst="rect">
            <a:avLst/>
          </a:prstGeom>
          <a:noFill/>
          <a:ln/>
        </p:spPr>
        <p:txBody>
          <a:bodyPr wrap="square" rtlCol="0" anchor="ctr"/>
          <a:lstStyle/>
          <a:p>
            <a:pPr algn="l" indent="0" marL="0">
              <a:buNone/>
            </a:pPr>
            <a:r>
              <a:rPr lang="en-US" sz="1600" dirty="0">
                <a:solidFill>
                  <a:srgbClr val="374151"/>
                </a:solidFill>
              </a:rPr>
              <a:t>1. profile選定（年齢・性別・疾患・重症度）</a:t>
            </a:r>
            <a:endParaRPr lang="en-US" sz="1600" dirty="0"/>
          </a:p>
        </p:txBody>
      </p:sp>
      <p:sp>
        <p:nvSpPr>
          <p:cNvPr id="6" name="Text 4"/>
          <p:cNvSpPr/>
          <p:nvPr/>
        </p:nvSpPr>
        <p:spPr>
          <a:xfrm>
            <a:off x="731520" y="3017520"/>
            <a:ext cx="7680960" cy="457200"/>
          </a:xfrm>
          <a:prstGeom prst="rect">
            <a:avLst/>
          </a:prstGeom>
          <a:noFill/>
          <a:ln/>
        </p:spPr>
        <p:txBody>
          <a:bodyPr wrap="square" rtlCol="0" anchor="ctr"/>
          <a:lstStyle/>
          <a:p>
            <a:pPr algn="l" indent="0" marL="0">
              <a:buNone/>
            </a:pPr>
            <a:r>
              <a:rPr lang="en-US" sz="1600" dirty="0">
                <a:solidFill>
                  <a:srgbClr val="374151"/>
                </a:solidFill>
              </a:rPr>
              <a:t>2. AC 初期値生成（ISO 正常値＋疾患プロファイル補正）</a:t>
            </a:r>
            <a:endParaRPr lang="en-US" sz="1600" dirty="0"/>
          </a:p>
        </p:txBody>
      </p:sp>
      <p:sp>
        <p:nvSpPr>
          <p:cNvPr id="7" name="Text 5"/>
          <p:cNvSpPr/>
          <p:nvPr/>
        </p:nvSpPr>
        <p:spPr>
          <a:xfrm>
            <a:off x="731520" y="3474720"/>
            <a:ext cx="7680960" cy="457200"/>
          </a:xfrm>
          <a:prstGeom prst="rect">
            <a:avLst/>
          </a:prstGeom>
          <a:noFill/>
          <a:ln/>
        </p:spPr>
        <p:txBody>
          <a:bodyPr wrap="square" rtlCol="0" anchor="ctr"/>
          <a:lstStyle/>
          <a:p>
            <a:pPr algn="l" indent="0" marL="0">
              <a:buNone/>
            </a:pPr>
            <a:r>
              <a:rPr lang="en-US" sz="1600" dirty="0">
                <a:solidFill>
                  <a:srgbClr val="374151"/>
                </a:solidFill>
              </a:rPr>
              <a:t>3. BC 生成（±6dB揺らぎ、ABG制約を想定）</a:t>
            </a:r>
            <a:endParaRPr lang="en-US" sz="1600" dirty="0"/>
          </a:p>
        </p:txBody>
      </p:sp>
      <p:sp>
        <p:nvSpPr>
          <p:cNvPr id="8" name="Text 6"/>
          <p:cNvSpPr/>
          <p:nvPr/>
        </p:nvSpPr>
        <p:spPr>
          <a:xfrm>
            <a:off x="731520" y="3931920"/>
            <a:ext cx="7680960" cy="457200"/>
          </a:xfrm>
          <a:prstGeom prst="rect">
            <a:avLst/>
          </a:prstGeom>
          <a:noFill/>
          <a:ln/>
        </p:spPr>
        <p:txBody>
          <a:bodyPr wrap="square" rtlCol="0" anchor="ctr"/>
          <a:lstStyle/>
          <a:p>
            <a:pPr algn="l" indent="0" marL="0">
              <a:buNone/>
            </a:pPr>
            <a:r>
              <a:rPr lang="en-US" sz="1600" dirty="0">
                <a:solidFill>
                  <a:srgbClr val="374151"/>
                </a:solidFill>
              </a:rPr>
              <a:t>4. 補助検査（Tym／ART／DPOAE）を病態ルールで自動設定</a:t>
            </a:r>
            <a:endParaRPr lang="en-US" sz="1600" dirty="0"/>
          </a:p>
        </p:txBody>
      </p:sp>
      <p:sp>
        <p:nvSpPr>
          <p:cNvPr id="9" name="Text 7"/>
          <p:cNvSpPr/>
          <p:nvPr/>
        </p:nvSpPr>
        <p:spPr>
          <a:xfrm>
            <a:off x="731520" y="4389120"/>
            <a:ext cx="7680960" cy="457200"/>
          </a:xfrm>
          <a:prstGeom prst="rect">
            <a:avLst/>
          </a:prstGeom>
          <a:noFill/>
          <a:ln/>
        </p:spPr>
        <p:txBody>
          <a:bodyPr wrap="square" rtlCol="0" anchor="ctr"/>
          <a:lstStyle/>
          <a:p>
            <a:pPr algn="l" indent="0" marL="0">
              <a:buNone/>
            </a:pPr>
            <a:r>
              <a:rPr lang="en-US" sz="1600" dirty="0">
                <a:solidFill>
                  <a:srgbClr val="374151"/>
                </a:solidFill>
              </a:rPr>
              <a:t>5. 整合性チェック（左右差、患側判定、マスキング要件）</a:t>
            </a:r>
            <a:endParaRPr lang="en-US" sz="1600" dirty="0"/>
          </a:p>
        </p:txBody>
      </p:sp>
      <p:sp>
        <p:nvSpPr>
          <p:cNvPr id="10" name="Text 8"/>
          <p:cNvSpPr/>
          <p:nvPr/>
        </p:nvSpPr>
        <p:spPr>
          <a:xfrm>
            <a:off x="731520" y="4846320"/>
            <a:ext cx="7680960" cy="457200"/>
          </a:xfrm>
          <a:prstGeom prst="rect">
            <a:avLst/>
          </a:prstGeom>
          <a:noFill/>
          <a:ln/>
        </p:spPr>
        <p:txBody>
          <a:bodyPr wrap="square" rtlCol="0" anchor="ctr"/>
          <a:lstStyle/>
          <a:p>
            <a:pPr algn="l" indent="0" marL="0">
              <a:buNone/>
            </a:pPr>
            <a:r>
              <a:rPr lang="en-US" sz="1600" dirty="0">
                <a:solidFill>
                  <a:srgbClr val="374151"/>
                </a:solidFill>
              </a:rPr>
              <a:t>特徴</a:t>
            </a:r>
            <a:endParaRPr lang="en-US" sz="1600" dirty="0"/>
          </a:p>
        </p:txBody>
      </p:sp>
      <p:sp>
        <p:nvSpPr>
          <p:cNvPr id="11" name="Text 9"/>
          <p:cNvSpPr/>
          <p:nvPr/>
        </p:nvSpPr>
        <p:spPr>
          <a:xfrm>
            <a:off x="731520" y="5303520"/>
            <a:ext cx="7680960" cy="457200"/>
          </a:xfrm>
          <a:prstGeom prst="rect">
            <a:avLst/>
          </a:prstGeom>
          <a:noFill/>
          <a:ln/>
        </p:spPr>
        <p:txBody>
          <a:bodyPr wrap="square" rtlCol="0" anchor="ctr"/>
          <a:lstStyle/>
          <a:p>
            <a:pPr algn="l" marL="342900" indent="-342900">
              <a:buSzPct val="100000"/>
              <a:buChar char="•"/>
            </a:pPr>
            <a:r>
              <a:rPr lang="en-US" sz="1600" dirty="0">
                <a:solidFill>
                  <a:srgbClr val="374151"/>
                </a:solidFill>
              </a:rPr>
              <a:t>- 実臨床に近いばらつきとルールを両立</a:t>
            </a:r>
            <a:endParaRPr lang="en-US" sz="1600" dirty="0"/>
          </a:p>
        </p:txBody>
      </p:sp>
      <p:sp>
        <p:nvSpPr>
          <p:cNvPr id="12" name="Text 10"/>
          <p:cNvSpPr/>
          <p:nvPr/>
        </p:nvSpPr>
        <p:spPr>
          <a:xfrm>
            <a:off x="731520" y="5760720"/>
            <a:ext cx="7680960" cy="457200"/>
          </a:xfrm>
          <a:prstGeom prst="rect">
            <a:avLst/>
          </a:prstGeom>
          <a:noFill/>
          <a:ln/>
        </p:spPr>
        <p:txBody>
          <a:bodyPr wrap="square" rtlCol="0" anchor="ctr"/>
          <a:lstStyle/>
          <a:p>
            <a:pPr algn="l" marL="342900" indent="-342900">
              <a:buSzPct val="100000"/>
              <a:buChar char="•"/>
            </a:pPr>
            <a:r>
              <a:rPr lang="en-US" sz="1600" dirty="0">
                <a:solidFill>
                  <a:srgbClr val="374151"/>
                </a:solidFill>
              </a:rPr>
              <a:t>- 病態ごとの補助検査結果が一貫している</a:t>
            </a:r>
            <a:endParaRPr lang="en-US" sz="1600" dirty="0"/>
          </a:p>
        </p:txBody>
      </p:sp>
      <p:sp>
        <p:nvSpPr>
          <p:cNvPr id="13" name="Text 11"/>
          <p:cNvSpPr/>
          <p:nvPr/>
        </p:nvSpPr>
        <p:spPr>
          <a:xfrm>
            <a:off x="731520" y="6217920"/>
            <a:ext cx="7680960" cy="457200"/>
          </a:xfrm>
          <a:prstGeom prst="rect">
            <a:avLst/>
          </a:prstGeom>
          <a:noFill/>
          <a:ln/>
        </p:spPr>
        <p:txBody>
          <a:bodyPr wrap="square" rtlCol="0" anchor="ctr"/>
          <a:lstStyle/>
          <a:p>
            <a:pPr algn="l" marL="342900" indent="-342900">
              <a:buSzPct val="100000"/>
              <a:buChar char="•"/>
            </a:pPr>
            <a:r>
              <a:rPr lang="en-US" sz="1600" dirty="0">
                <a:solidFill>
                  <a:srgbClr val="374151"/>
                </a:solidFill>
              </a:rPr>
              <a:t>- 症例データベースに依存せず無限生成</a:t>
            </a:r>
            <a:endParaRPr lang="en-US" sz="1600" dirty="0"/>
          </a:p>
        </p:txBody>
      </p:sp>
      <p:sp>
        <p:nvSpPr>
          <p:cNvPr id="14" name="Text 12"/>
          <p:cNvSpPr/>
          <p:nvPr/>
        </p:nvSpPr>
        <p:spPr>
          <a:xfrm>
            <a:off x="8778240" y="6217920"/>
            <a:ext cx="365760" cy="274320"/>
          </a:xfrm>
          <a:prstGeom prst="rect">
            <a:avLst/>
          </a:prstGeom>
          <a:noFill/>
          <a:ln/>
        </p:spPr>
        <p:txBody>
          <a:bodyPr wrap="square" rtlCol="0" anchor="ctr"/>
          <a:lstStyle/>
          <a:p>
            <a:pPr algn="r" indent="0" marL="0">
              <a:buNone/>
            </a:pPr>
            <a:r>
              <a:rPr lang="en-US" sz="1200" dirty="0">
                <a:solidFill>
                  <a:srgbClr val="94A3B8"/>
                </a:solidFill>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57200"/>
            <a:ext cx="8229600" cy="731520"/>
          </a:xfrm>
          <a:prstGeom prst="rect">
            <a:avLst/>
          </a:prstGeom>
          <a:noFill/>
          <a:ln/>
        </p:spPr>
        <p:txBody>
          <a:bodyPr wrap="square" rtlCol="0" anchor="ctr"/>
          <a:lstStyle/>
          <a:p>
            <a:pPr algn="l" indent="0" marL="0">
              <a:buNone/>
            </a:pPr>
            <a:r>
              <a:rPr lang="en-US" sz="3200" b="1" dirty="0">
                <a:solidFill>
                  <a:srgbClr val="1F2937"/>
                </a:solidFill>
              </a:rPr>
              <a:t>AC測定プロセス</a:t>
            </a:r>
            <a:endParaRPr lang="en-US" sz="3200" dirty="0"/>
          </a:p>
        </p:txBody>
      </p:sp>
      <p:sp>
        <p:nvSpPr>
          <p:cNvPr id="3" name="Text 1"/>
          <p:cNvSpPr/>
          <p:nvPr/>
        </p:nvSpPr>
        <p:spPr>
          <a:xfrm>
            <a:off x="731520" y="1645920"/>
            <a:ext cx="7680960" cy="457200"/>
          </a:xfrm>
          <a:prstGeom prst="rect">
            <a:avLst/>
          </a:prstGeom>
          <a:noFill/>
          <a:ln/>
        </p:spPr>
        <p:txBody>
          <a:bodyPr wrap="square" rtlCol="0" anchor="ctr"/>
          <a:lstStyle/>
          <a:p>
            <a:pPr algn="l" indent="0" marL="0">
              <a:buNone/>
            </a:pPr>
            <a:r>
              <a:rPr lang="en-US" sz="1600" dirty="0">
                <a:solidFill>
                  <a:srgbClr val="374151"/>
                </a:solidFill>
              </a:rPr>
              <a:t>AC測定プロセス</a:t>
            </a:r>
            <a:endParaRPr lang="en-US" sz="1600" dirty="0"/>
          </a:p>
        </p:txBody>
      </p:sp>
      <p:sp>
        <p:nvSpPr>
          <p:cNvPr id="4" name="Text 2"/>
          <p:cNvSpPr/>
          <p:nvPr/>
        </p:nvSpPr>
        <p:spPr>
          <a:xfrm>
            <a:off x="731520" y="2103120"/>
            <a:ext cx="7680960" cy="457200"/>
          </a:xfrm>
          <a:prstGeom prst="rect">
            <a:avLst/>
          </a:prstGeom>
          <a:noFill/>
          <a:ln/>
        </p:spPr>
        <p:txBody>
          <a:bodyPr wrap="square" rtlCol="0" anchor="ctr"/>
          <a:lstStyle/>
          <a:p>
            <a:pPr algn="l" indent="0" marL="0">
              <a:buNone/>
            </a:pPr>
            <a:r>
              <a:rPr lang="en-US" sz="1600" dirty="0">
                <a:solidFill>
                  <a:srgbClr val="374151"/>
                </a:solidFill>
              </a:rPr>
              <a:t>操作フロー</a:t>
            </a:r>
            <a:endParaRPr lang="en-US" sz="1600" dirty="0"/>
          </a:p>
        </p:txBody>
      </p:sp>
      <p:sp>
        <p:nvSpPr>
          <p:cNvPr id="5" name="Text 3"/>
          <p:cNvSpPr/>
          <p:nvPr/>
        </p:nvSpPr>
        <p:spPr>
          <a:xfrm>
            <a:off x="731520" y="2560320"/>
            <a:ext cx="7680960" cy="457200"/>
          </a:xfrm>
          <a:prstGeom prst="rect">
            <a:avLst/>
          </a:prstGeom>
          <a:noFill/>
          <a:ln/>
        </p:spPr>
        <p:txBody>
          <a:bodyPr wrap="square" rtlCol="0" anchor="ctr"/>
          <a:lstStyle/>
          <a:p>
            <a:pPr algn="l" indent="0" marL="0">
              <a:buNone/>
            </a:pPr>
            <a:r>
              <a:rPr lang="en-US" sz="1600" dirty="0">
                <a:solidFill>
                  <a:srgbClr val="374151"/>
                </a:solidFill>
              </a:rPr>
              <a:t>1. AI症例の AC 初期値を提示</a:t>
            </a:r>
            <a:endParaRPr lang="en-US" sz="1600" dirty="0"/>
          </a:p>
        </p:txBody>
      </p:sp>
      <p:sp>
        <p:nvSpPr>
          <p:cNvPr id="6" name="Text 4"/>
          <p:cNvSpPr/>
          <p:nvPr/>
        </p:nvSpPr>
        <p:spPr>
          <a:xfrm>
            <a:off x="731520" y="3017520"/>
            <a:ext cx="7680960" cy="457200"/>
          </a:xfrm>
          <a:prstGeom prst="rect">
            <a:avLst/>
          </a:prstGeom>
          <a:noFill/>
          <a:ln/>
        </p:spPr>
        <p:txBody>
          <a:bodyPr wrap="square" rtlCol="0" anchor="ctr"/>
          <a:lstStyle/>
          <a:p>
            <a:pPr algn="l" indent="0" marL="0">
              <a:buNone/>
            </a:pPr>
            <a:r>
              <a:rPr lang="en-US" sz="1600" dirty="0">
                <a:solidFill>
                  <a:srgbClr val="374151"/>
                </a:solidFill>
              </a:rPr>
              <a:t>2. 受講者が 5dB上昇法（聴取不可レベルから 5dB ずつ上げる）で応答を確認</a:t>
            </a:r>
            <a:endParaRPr lang="en-US" sz="1600" dirty="0"/>
          </a:p>
        </p:txBody>
      </p:sp>
      <p:sp>
        <p:nvSpPr>
          <p:cNvPr id="7" name="Text 5"/>
          <p:cNvSpPr/>
          <p:nvPr/>
        </p:nvSpPr>
        <p:spPr>
          <a:xfrm>
            <a:off x="731520" y="3474720"/>
            <a:ext cx="7680960" cy="457200"/>
          </a:xfrm>
          <a:prstGeom prst="rect">
            <a:avLst/>
          </a:prstGeom>
          <a:noFill/>
          <a:ln/>
        </p:spPr>
        <p:txBody>
          <a:bodyPr wrap="square" rtlCol="0" anchor="ctr"/>
          <a:lstStyle/>
          <a:p>
            <a:pPr algn="l" indent="0" marL="0">
              <a:buNone/>
            </a:pPr>
            <a:r>
              <a:rPr lang="en-US" sz="1600" dirty="0">
                <a:solidFill>
                  <a:srgbClr val="374151"/>
                </a:solidFill>
              </a:rPr>
              <a:t>3. 閾値仮決定→ログに記録→次周波数へ</a:t>
            </a:r>
            <a:endParaRPr lang="en-US" sz="1600" dirty="0"/>
          </a:p>
        </p:txBody>
      </p:sp>
      <p:sp>
        <p:nvSpPr>
          <p:cNvPr id="8" name="Text 6"/>
          <p:cNvSpPr/>
          <p:nvPr/>
        </p:nvSpPr>
        <p:spPr>
          <a:xfrm>
            <a:off x="731520" y="3931920"/>
            <a:ext cx="7680960" cy="457200"/>
          </a:xfrm>
          <a:prstGeom prst="rect">
            <a:avLst/>
          </a:prstGeom>
          <a:noFill/>
          <a:ln/>
        </p:spPr>
        <p:txBody>
          <a:bodyPr wrap="square" rtlCol="0" anchor="ctr"/>
          <a:lstStyle/>
          <a:p>
            <a:pPr algn="l" indent="0" marL="0">
              <a:buNone/>
            </a:pPr>
            <a:r>
              <a:rPr lang="en-US" sz="1600" dirty="0">
                <a:solidFill>
                  <a:srgbClr val="374151"/>
                </a:solidFill>
              </a:rPr>
              <a:t>ルール</a:t>
            </a:r>
            <a:endParaRPr lang="en-US" sz="1600" dirty="0"/>
          </a:p>
        </p:txBody>
      </p:sp>
      <p:sp>
        <p:nvSpPr>
          <p:cNvPr id="9" name="Text 7"/>
          <p:cNvSpPr/>
          <p:nvPr/>
        </p:nvSpPr>
        <p:spPr>
          <a:xfrm>
            <a:off x="731520" y="4389120"/>
            <a:ext cx="7680960" cy="457200"/>
          </a:xfrm>
          <a:prstGeom prst="rect">
            <a:avLst/>
          </a:prstGeom>
          <a:noFill/>
          <a:ln/>
        </p:spPr>
        <p:txBody>
          <a:bodyPr wrap="square" rtlCol="0" anchor="ctr"/>
          <a:lstStyle/>
          <a:p>
            <a:pPr algn="l" marL="342900" indent="-342900">
              <a:buSzPct val="100000"/>
              <a:buChar char="•"/>
            </a:pPr>
            <a:r>
              <a:rPr lang="en-US" sz="1600" dirty="0">
                <a:solidFill>
                  <a:srgbClr val="374151"/>
                </a:solidFill>
              </a:rPr>
              <a:t>- ISO 基準に合わせた提示レベル範囲</a:t>
            </a:r>
            <a:endParaRPr lang="en-US" sz="1600" dirty="0"/>
          </a:p>
        </p:txBody>
      </p:sp>
      <p:sp>
        <p:nvSpPr>
          <p:cNvPr id="10" name="Text 8"/>
          <p:cNvSpPr/>
          <p:nvPr/>
        </p:nvSpPr>
        <p:spPr>
          <a:xfrm>
            <a:off x="731520" y="4846320"/>
            <a:ext cx="7680960" cy="457200"/>
          </a:xfrm>
          <a:prstGeom prst="rect">
            <a:avLst/>
          </a:prstGeom>
          <a:noFill/>
          <a:ln/>
        </p:spPr>
        <p:txBody>
          <a:bodyPr wrap="square" rtlCol="0" anchor="ctr"/>
          <a:lstStyle/>
          <a:p>
            <a:pPr algn="l" marL="342900" indent="-342900">
              <a:buSzPct val="100000"/>
              <a:buChar char="•"/>
            </a:pPr>
            <a:r>
              <a:rPr lang="en-US" sz="1600" dirty="0">
                <a:solidFill>
                  <a:srgbClr val="374151"/>
                </a:solidFill>
              </a:rPr>
              <a:t>- Scale-Out 超過時は測定限界表示</a:t>
            </a:r>
            <a:endParaRPr lang="en-US" sz="1600" dirty="0"/>
          </a:p>
        </p:txBody>
      </p:sp>
      <p:sp>
        <p:nvSpPr>
          <p:cNvPr id="11" name="Text 9"/>
          <p:cNvSpPr/>
          <p:nvPr/>
        </p:nvSpPr>
        <p:spPr>
          <a:xfrm>
            <a:off x="731520" y="5303520"/>
            <a:ext cx="7680960" cy="457200"/>
          </a:xfrm>
          <a:prstGeom prst="rect">
            <a:avLst/>
          </a:prstGeom>
          <a:noFill/>
          <a:ln/>
        </p:spPr>
        <p:txBody>
          <a:bodyPr wrap="square" rtlCol="0" anchor="ctr"/>
          <a:lstStyle/>
          <a:p>
            <a:pPr algn="l" marL="342900" indent="-342900">
              <a:buSzPct val="100000"/>
              <a:buChar char="•"/>
            </a:pPr>
            <a:r>
              <a:rPr lang="en-US" sz="1600" dirty="0">
                <a:solidFill>
                  <a:srgbClr val="374151"/>
                </a:solidFill>
              </a:rPr>
              <a:t>- 左右差が大きくなり過ぎないようガード</a:t>
            </a:r>
            <a:endParaRPr lang="en-US" sz="1600" dirty="0"/>
          </a:p>
        </p:txBody>
      </p:sp>
      <p:sp>
        <p:nvSpPr>
          <p:cNvPr id="12" name="Text 10"/>
          <p:cNvSpPr/>
          <p:nvPr/>
        </p:nvSpPr>
        <p:spPr>
          <a:xfrm>
            <a:off x="8778240" y="6217920"/>
            <a:ext cx="365760" cy="274320"/>
          </a:xfrm>
          <a:prstGeom prst="rect">
            <a:avLst/>
          </a:prstGeom>
          <a:noFill/>
          <a:ln/>
        </p:spPr>
        <p:txBody>
          <a:bodyPr wrap="square" rtlCol="0" anchor="ctr"/>
          <a:lstStyle/>
          <a:p>
            <a:pPr algn="r" indent="0" marL="0">
              <a:buNone/>
            </a:pPr>
            <a:r>
              <a:rPr lang="en-US" sz="1200" dirty="0">
                <a:solidFill>
                  <a:srgbClr val="94A3B8"/>
                </a:solidFill>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57200"/>
            <a:ext cx="8229600" cy="731520"/>
          </a:xfrm>
          <a:prstGeom prst="rect">
            <a:avLst/>
          </a:prstGeom>
          <a:noFill/>
          <a:ln/>
        </p:spPr>
        <p:txBody>
          <a:bodyPr wrap="square" rtlCol="0" anchor="ctr"/>
          <a:lstStyle/>
          <a:p>
            <a:pPr algn="l" indent="0" marL="0">
              <a:buNone/>
            </a:pPr>
            <a:r>
              <a:rPr lang="en-US" sz="3200" b="1" dirty="0">
                <a:solidFill>
                  <a:srgbClr val="1F2937"/>
                </a:solidFill>
              </a:rPr>
              <a:t>BC測定 &amp; ABG管理</a:t>
            </a:r>
            <a:endParaRPr lang="en-US" sz="3200" dirty="0"/>
          </a:p>
        </p:txBody>
      </p:sp>
      <p:sp>
        <p:nvSpPr>
          <p:cNvPr id="3" name="Text 1"/>
          <p:cNvSpPr/>
          <p:nvPr/>
        </p:nvSpPr>
        <p:spPr>
          <a:xfrm>
            <a:off x="731520" y="1645920"/>
            <a:ext cx="7680960" cy="457200"/>
          </a:xfrm>
          <a:prstGeom prst="rect">
            <a:avLst/>
          </a:prstGeom>
          <a:noFill/>
          <a:ln/>
        </p:spPr>
        <p:txBody>
          <a:bodyPr wrap="square" rtlCol="0" anchor="ctr"/>
          <a:lstStyle/>
          <a:p>
            <a:pPr algn="l" indent="0" marL="0">
              <a:buNone/>
            </a:pPr>
            <a:r>
              <a:rPr lang="en-US" sz="1600" dirty="0">
                <a:solidFill>
                  <a:srgbClr val="374151"/>
                </a:solidFill>
              </a:rPr>
              <a:t>BC測定 &amp; ABG管理</a:t>
            </a:r>
            <a:endParaRPr lang="en-US" sz="1600" dirty="0"/>
          </a:p>
        </p:txBody>
      </p:sp>
      <p:sp>
        <p:nvSpPr>
          <p:cNvPr id="4" name="Text 2"/>
          <p:cNvSpPr/>
          <p:nvPr/>
        </p:nvSpPr>
        <p:spPr>
          <a:xfrm>
            <a:off x="731520" y="2103120"/>
            <a:ext cx="7680960" cy="457200"/>
          </a:xfrm>
          <a:prstGeom prst="rect">
            <a:avLst/>
          </a:prstGeom>
          <a:noFill/>
          <a:ln/>
        </p:spPr>
        <p:txBody>
          <a:bodyPr wrap="square" rtlCol="0" anchor="ctr"/>
          <a:lstStyle/>
          <a:p>
            <a:pPr algn="l" indent="0" marL="0">
              <a:buNone/>
            </a:pPr>
            <a:r>
              <a:rPr lang="en-US" sz="1600" dirty="0">
                <a:solidFill>
                  <a:srgbClr val="374151"/>
                </a:solidFill>
              </a:rPr>
              <a:t>BC値生成</a:t>
            </a:r>
            <a:endParaRPr lang="en-US" sz="1600" dirty="0"/>
          </a:p>
        </p:txBody>
      </p:sp>
      <p:sp>
        <p:nvSpPr>
          <p:cNvPr id="5" name="Text 3"/>
          <p:cNvSpPr/>
          <p:nvPr/>
        </p:nvSpPr>
        <p:spPr>
          <a:xfrm>
            <a:off x="731520" y="2560320"/>
            <a:ext cx="7680960" cy="457200"/>
          </a:xfrm>
          <a:prstGeom prst="rect">
            <a:avLst/>
          </a:prstGeom>
          <a:noFill/>
          <a:ln/>
        </p:spPr>
        <p:txBody>
          <a:bodyPr wrap="square" rtlCol="0" anchor="ctr"/>
          <a:lstStyle/>
          <a:p>
            <a:pPr algn="l" marL="342900" indent="-342900">
              <a:buSzPct val="100000"/>
              <a:buChar char="•"/>
            </a:pPr>
            <a:r>
              <a:rPr lang="en-US" sz="1600" dirty="0">
                <a:solidFill>
                  <a:srgbClr val="374151"/>
                </a:solidFill>
              </a:rPr>
              <a:t>- ランダム揺らぎ（±6dB／5dB刻み）</a:t>
            </a:r>
            <a:endParaRPr lang="en-US" sz="1600" dirty="0"/>
          </a:p>
        </p:txBody>
      </p:sp>
      <p:sp>
        <p:nvSpPr>
          <p:cNvPr id="6" name="Text 4"/>
          <p:cNvSpPr/>
          <p:nvPr/>
        </p:nvSpPr>
        <p:spPr>
          <a:xfrm>
            <a:off x="731520" y="3017520"/>
            <a:ext cx="7680960" cy="457200"/>
          </a:xfrm>
          <a:prstGeom prst="rect">
            <a:avLst/>
          </a:prstGeom>
          <a:noFill/>
          <a:ln/>
        </p:spPr>
        <p:txBody>
          <a:bodyPr wrap="square" rtlCol="0" anchor="ctr"/>
          <a:lstStyle/>
          <a:p>
            <a:pPr algn="l" marL="342900" indent="-342900">
              <a:buSzPct val="100000"/>
              <a:buChar char="•"/>
            </a:pPr>
            <a:r>
              <a:rPr lang="en-US" sz="1600" dirty="0">
                <a:solidFill>
                  <a:srgbClr val="374151"/>
                </a:solidFill>
              </a:rPr>
              <a:t>- 伝音性の場合は最小 ABG を確保</a:t>
            </a:r>
            <a:endParaRPr lang="en-US" sz="1600" dirty="0"/>
          </a:p>
        </p:txBody>
      </p:sp>
      <p:sp>
        <p:nvSpPr>
          <p:cNvPr id="7" name="Text 5"/>
          <p:cNvSpPr/>
          <p:nvPr/>
        </p:nvSpPr>
        <p:spPr>
          <a:xfrm>
            <a:off x="731520" y="3474720"/>
            <a:ext cx="7680960" cy="457200"/>
          </a:xfrm>
          <a:prstGeom prst="rect">
            <a:avLst/>
          </a:prstGeom>
          <a:noFill/>
          <a:ln/>
        </p:spPr>
        <p:txBody>
          <a:bodyPr wrap="square" rtlCol="0" anchor="ctr"/>
          <a:lstStyle/>
          <a:p>
            <a:pPr algn="l" marL="342900" indent="-342900">
              <a:buSzPct val="100000"/>
              <a:buChar char="•"/>
            </a:pPr>
            <a:r>
              <a:rPr lang="en-US" sz="1600" dirty="0">
                <a:solidFill>
                  <a:srgbClr val="374151"/>
                </a:solidFill>
              </a:rPr>
              <a:t>- 正常・SNHL は -10dB ≤ AC-BC ≤ +5dB</a:t>
            </a:r>
            <a:endParaRPr lang="en-US" sz="1600" dirty="0"/>
          </a:p>
        </p:txBody>
      </p:sp>
      <p:sp>
        <p:nvSpPr>
          <p:cNvPr id="8" name="Text 6"/>
          <p:cNvSpPr/>
          <p:nvPr/>
        </p:nvSpPr>
        <p:spPr>
          <a:xfrm>
            <a:off x="731520" y="3931920"/>
            <a:ext cx="7680960" cy="457200"/>
          </a:xfrm>
          <a:prstGeom prst="rect">
            <a:avLst/>
          </a:prstGeom>
          <a:noFill/>
          <a:ln/>
        </p:spPr>
        <p:txBody>
          <a:bodyPr wrap="square" rtlCol="0" anchor="ctr"/>
          <a:lstStyle/>
          <a:p>
            <a:pPr algn="l" indent="0" marL="0">
              <a:buNone/>
            </a:pPr>
            <a:r>
              <a:rPr lang="en-US" sz="1600" dirty="0">
                <a:solidFill>
                  <a:srgbClr val="374151"/>
                </a:solidFill>
              </a:rPr>
              <a:t>測定時の確認ポイント</a:t>
            </a:r>
            <a:endParaRPr lang="en-US" sz="1600" dirty="0"/>
          </a:p>
        </p:txBody>
      </p:sp>
      <p:sp>
        <p:nvSpPr>
          <p:cNvPr id="9" name="Text 7"/>
          <p:cNvSpPr/>
          <p:nvPr/>
        </p:nvSpPr>
        <p:spPr>
          <a:xfrm>
            <a:off x="731520" y="4389120"/>
            <a:ext cx="7680960" cy="457200"/>
          </a:xfrm>
          <a:prstGeom prst="rect">
            <a:avLst/>
          </a:prstGeom>
          <a:noFill/>
          <a:ln/>
        </p:spPr>
        <p:txBody>
          <a:bodyPr wrap="square" rtlCol="0" anchor="ctr"/>
          <a:lstStyle/>
          <a:p>
            <a:pPr algn="l" marL="342900" indent="-342900">
              <a:buSzPct val="100000"/>
              <a:buChar char="•"/>
            </a:pPr>
            <a:r>
              <a:rPr lang="en-US" sz="1600" dirty="0">
                <a:solidFill>
                  <a:srgbClr val="374151"/>
                </a:solidFill>
              </a:rPr>
              <a:t>- 受講者が上昇法で応答を記録し、仮閾値と AC の差から ABG を算出</a:t>
            </a:r>
            <a:endParaRPr lang="en-US" sz="1600" dirty="0"/>
          </a:p>
        </p:txBody>
      </p:sp>
      <p:sp>
        <p:nvSpPr>
          <p:cNvPr id="10" name="Text 8"/>
          <p:cNvSpPr/>
          <p:nvPr/>
        </p:nvSpPr>
        <p:spPr>
          <a:xfrm>
            <a:off x="731520" y="4846320"/>
            <a:ext cx="7680960" cy="457200"/>
          </a:xfrm>
          <a:prstGeom prst="rect">
            <a:avLst/>
          </a:prstGeom>
          <a:noFill/>
          <a:ln/>
        </p:spPr>
        <p:txBody>
          <a:bodyPr wrap="square" rtlCol="0" anchor="ctr"/>
          <a:lstStyle/>
          <a:p>
            <a:pPr algn="l" marL="342900" indent="-342900">
              <a:buSzPct val="100000"/>
              <a:buChar char="•"/>
            </a:pPr>
            <a:r>
              <a:rPr lang="en-US" sz="1600" dirty="0">
                <a:solidFill>
                  <a:srgbClr val="374151"/>
                </a:solidFill>
              </a:rPr>
              <a:t>- 最小 ABG未満なら AC を補正</a:t>
            </a:r>
            <a:endParaRPr lang="en-US" sz="1600" dirty="0"/>
          </a:p>
        </p:txBody>
      </p:sp>
      <p:sp>
        <p:nvSpPr>
          <p:cNvPr id="11" name="Text 9"/>
          <p:cNvSpPr/>
          <p:nvPr/>
        </p:nvSpPr>
        <p:spPr>
          <a:xfrm>
            <a:off x="731520" y="5303520"/>
            <a:ext cx="7680960" cy="457200"/>
          </a:xfrm>
          <a:prstGeom prst="rect">
            <a:avLst/>
          </a:prstGeom>
          <a:noFill/>
          <a:ln/>
        </p:spPr>
        <p:txBody>
          <a:bodyPr wrap="square" rtlCol="0" anchor="ctr"/>
          <a:lstStyle/>
          <a:p>
            <a:pPr algn="l" marL="342900" indent="-342900">
              <a:buSzPct val="100000"/>
              <a:buChar char="•"/>
            </a:pPr>
            <a:r>
              <a:rPr lang="en-US" sz="1600" dirty="0">
                <a:solidFill>
                  <a:srgbClr val="374151"/>
                </a:solidFill>
              </a:rPr>
              <a:t>- 40dB 超の ABG は自動的に抑制</a:t>
            </a:r>
            <a:endParaRPr lang="en-US" sz="1600" dirty="0"/>
          </a:p>
        </p:txBody>
      </p:sp>
      <p:sp>
        <p:nvSpPr>
          <p:cNvPr id="12" name="Text 10"/>
          <p:cNvSpPr/>
          <p:nvPr/>
        </p:nvSpPr>
        <p:spPr>
          <a:xfrm>
            <a:off x="8778240" y="6217920"/>
            <a:ext cx="365760" cy="274320"/>
          </a:xfrm>
          <a:prstGeom prst="rect">
            <a:avLst/>
          </a:prstGeom>
          <a:noFill/>
          <a:ln/>
        </p:spPr>
        <p:txBody>
          <a:bodyPr wrap="square" rtlCol="0" anchor="ctr"/>
          <a:lstStyle/>
          <a:p>
            <a:pPr algn="r" indent="0" marL="0">
              <a:buNone/>
            </a:pPr>
            <a:r>
              <a:rPr lang="en-US" sz="1200" dirty="0">
                <a:solidFill>
                  <a:srgbClr val="94A3B8"/>
                </a:solidFill>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57200"/>
            <a:ext cx="8229600" cy="731520"/>
          </a:xfrm>
          <a:prstGeom prst="rect">
            <a:avLst/>
          </a:prstGeom>
          <a:noFill/>
          <a:ln/>
        </p:spPr>
        <p:txBody>
          <a:bodyPr wrap="square" rtlCol="0" anchor="ctr"/>
          <a:lstStyle/>
          <a:p>
            <a:pPr algn="l" indent="0" marL="0">
              <a:buNone/>
            </a:pPr>
            <a:r>
              <a:rPr lang="en-US" sz="3200" b="1" dirty="0">
                <a:solidFill>
                  <a:srgbClr val="1F2937"/>
                </a:solidFill>
              </a:rPr>
              <a:t>マスキング要否判定ロジック</a:t>
            </a:r>
            <a:endParaRPr lang="en-US" sz="3200" dirty="0"/>
          </a:p>
        </p:txBody>
      </p:sp>
      <p:sp>
        <p:nvSpPr>
          <p:cNvPr id="3" name="Text 1"/>
          <p:cNvSpPr/>
          <p:nvPr/>
        </p:nvSpPr>
        <p:spPr>
          <a:xfrm>
            <a:off x="731520" y="1645920"/>
            <a:ext cx="7680960" cy="457200"/>
          </a:xfrm>
          <a:prstGeom prst="rect">
            <a:avLst/>
          </a:prstGeom>
          <a:noFill/>
          <a:ln/>
        </p:spPr>
        <p:txBody>
          <a:bodyPr wrap="square" rtlCol="0" anchor="ctr"/>
          <a:lstStyle/>
          <a:p>
            <a:pPr algn="l" indent="0" marL="0">
              <a:buNone/>
            </a:pPr>
            <a:r>
              <a:rPr lang="en-US" sz="1600" dirty="0">
                <a:solidFill>
                  <a:srgbClr val="374151"/>
                </a:solidFill>
              </a:rPr>
              <a:t>マスキング要否判定ロジック</a:t>
            </a:r>
            <a:endParaRPr lang="en-US" sz="1600" dirty="0"/>
          </a:p>
        </p:txBody>
      </p:sp>
      <p:sp>
        <p:nvSpPr>
          <p:cNvPr id="4" name="Text 2"/>
          <p:cNvSpPr/>
          <p:nvPr/>
        </p:nvSpPr>
        <p:spPr>
          <a:xfrm>
            <a:off x="731520" y="2103120"/>
            <a:ext cx="7680960" cy="457200"/>
          </a:xfrm>
          <a:prstGeom prst="rect">
            <a:avLst/>
          </a:prstGeom>
          <a:noFill/>
          <a:ln/>
        </p:spPr>
        <p:txBody>
          <a:bodyPr wrap="square" rtlCol="0" anchor="ctr"/>
          <a:lstStyle/>
          <a:p>
            <a:pPr algn="l" indent="0" marL="0">
              <a:buNone/>
            </a:pPr>
            <a:r>
              <a:rPr lang="en-US" sz="1600" dirty="0">
                <a:solidFill>
                  <a:srgbClr val="374151"/>
                </a:solidFill>
              </a:rPr>
              <a:t>条件評価（受講者が判断）</a:t>
            </a:r>
            <a:endParaRPr lang="en-US" sz="1600" dirty="0"/>
          </a:p>
        </p:txBody>
      </p:sp>
      <p:sp>
        <p:nvSpPr>
          <p:cNvPr id="5" name="Text 3"/>
          <p:cNvSpPr/>
          <p:nvPr/>
        </p:nvSpPr>
        <p:spPr>
          <a:xfrm>
            <a:off x="731520" y="2560320"/>
            <a:ext cx="7680960" cy="457200"/>
          </a:xfrm>
          <a:prstGeom prst="rect">
            <a:avLst/>
          </a:prstGeom>
          <a:noFill/>
          <a:ln/>
        </p:spPr>
        <p:txBody>
          <a:bodyPr wrap="square" rtlCol="0" anchor="ctr"/>
          <a:lstStyle/>
          <a:p>
            <a:pPr algn="l" marL="342900" indent="-342900">
              <a:buSzPct val="100000"/>
              <a:buChar char="•"/>
            </a:pPr>
            <a:r>
              <a:rPr lang="en-US" sz="1600" dirty="0">
                <a:solidFill>
                  <a:srgbClr val="374151"/>
                </a:solidFill>
              </a:rPr>
              <a:t>- ABG が疾患別最小値以上か</a:t>
            </a:r>
            <a:endParaRPr lang="en-US" sz="1600" dirty="0"/>
          </a:p>
        </p:txBody>
      </p:sp>
      <p:sp>
        <p:nvSpPr>
          <p:cNvPr id="6" name="Text 4"/>
          <p:cNvSpPr/>
          <p:nvPr/>
        </p:nvSpPr>
        <p:spPr>
          <a:xfrm>
            <a:off x="731520" y="3017520"/>
            <a:ext cx="7680960" cy="457200"/>
          </a:xfrm>
          <a:prstGeom prst="rect">
            <a:avLst/>
          </a:prstGeom>
          <a:noFill/>
          <a:ln/>
        </p:spPr>
        <p:txBody>
          <a:bodyPr wrap="square" rtlCol="0" anchor="ctr"/>
          <a:lstStyle/>
          <a:p>
            <a:pPr algn="l" marL="342900" indent="-342900">
              <a:buSzPct val="100000"/>
              <a:buChar char="•"/>
            </a:pPr>
            <a:r>
              <a:rPr lang="en-US" sz="1600" dirty="0">
                <a:solidFill>
                  <a:srgbClr val="374151"/>
                </a:solidFill>
              </a:rPr>
              <a:t>- 左右差が IA を超える見込みか</a:t>
            </a:r>
            <a:endParaRPr lang="en-US" sz="1600" dirty="0"/>
          </a:p>
        </p:txBody>
      </p:sp>
      <p:sp>
        <p:nvSpPr>
          <p:cNvPr id="7" name="Text 5"/>
          <p:cNvSpPr/>
          <p:nvPr/>
        </p:nvSpPr>
        <p:spPr>
          <a:xfrm>
            <a:off x="731520" y="3474720"/>
            <a:ext cx="7680960" cy="457200"/>
          </a:xfrm>
          <a:prstGeom prst="rect">
            <a:avLst/>
          </a:prstGeom>
          <a:noFill/>
          <a:ln/>
        </p:spPr>
        <p:txBody>
          <a:bodyPr wrap="square" rtlCol="0" anchor="ctr"/>
          <a:lstStyle/>
          <a:p>
            <a:pPr algn="l" marL="342900" indent="-342900">
              <a:buSzPct val="100000"/>
              <a:buChar char="•"/>
            </a:pPr>
            <a:r>
              <a:rPr lang="en-US" sz="1600" dirty="0">
                <a:solidFill>
                  <a:srgbClr val="374151"/>
                </a:solidFill>
              </a:rPr>
              <a:t>- テスト耳閾値がマスキングノイズで覆われないか</a:t>
            </a:r>
            <a:endParaRPr lang="en-US" sz="1600" dirty="0"/>
          </a:p>
        </p:txBody>
      </p:sp>
      <p:sp>
        <p:nvSpPr>
          <p:cNvPr id="8" name="Text 6"/>
          <p:cNvSpPr/>
          <p:nvPr/>
        </p:nvSpPr>
        <p:spPr>
          <a:xfrm>
            <a:off x="731520" y="3931920"/>
            <a:ext cx="7680960" cy="457200"/>
          </a:xfrm>
          <a:prstGeom prst="rect">
            <a:avLst/>
          </a:prstGeom>
          <a:noFill/>
          <a:ln/>
        </p:spPr>
        <p:txBody>
          <a:bodyPr wrap="square" rtlCol="0" anchor="ctr"/>
          <a:lstStyle/>
          <a:p>
            <a:pPr algn="l" indent="0" marL="0">
              <a:buNone/>
            </a:pPr>
            <a:r>
              <a:rPr lang="en-US" sz="1600" dirty="0">
                <a:solidFill>
                  <a:srgbClr val="374151"/>
                </a:solidFill>
              </a:rPr>
              <a:t>システムのサポート（AI）</a:t>
            </a:r>
            <a:endParaRPr lang="en-US" sz="1600" dirty="0"/>
          </a:p>
        </p:txBody>
      </p:sp>
      <p:sp>
        <p:nvSpPr>
          <p:cNvPr id="9" name="Text 7"/>
          <p:cNvSpPr/>
          <p:nvPr/>
        </p:nvSpPr>
        <p:spPr>
          <a:xfrm>
            <a:off x="731520" y="4389120"/>
            <a:ext cx="7680960" cy="457200"/>
          </a:xfrm>
          <a:prstGeom prst="rect">
            <a:avLst/>
          </a:prstGeom>
          <a:noFill/>
          <a:ln/>
        </p:spPr>
        <p:txBody>
          <a:bodyPr wrap="square" rtlCol="0" anchor="ctr"/>
          <a:lstStyle/>
          <a:p>
            <a:pPr algn="l" marL="342900" indent="-342900">
              <a:buSzPct val="100000"/>
              <a:buChar char="•"/>
            </a:pPr>
            <a:r>
              <a:rPr lang="en-US" sz="1600" dirty="0">
                <a:solidFill>
                  <a:srgbClr val="374151"/>
                </a:solidFill>
              </a:rPr>
              <a:t>- 条件を満たす周波数をハイライト</a:t>
            </a:r>
            <a:endParaRPr lang="en-US" sz="1600" dirty="0"/>
          </a:p>
        </p:txBody>
      </p:sp>
      <p:sp>
        <p:nvSpPr>
          <p:cNvPr id="10" name="Text 8"/>
          <p:cNvSpPr/>
          <p:nvPr/>
        </p:nvSpPr>
        <p:spPr>
          <a:xfrm>
            <a:off x="731520" y="4846320"/>
            <a:ext cx="7680960" cy="457200"/>
          </a:xfrm>
          <a:prstGeom prst="rect">
            <a:avLst/>
          </a:prstGeom>
          <a:noFill/>
          <a:ln/>
        </p:spPr>
        <p:txBody>
          <a:bodyPr wrap="square" rtlCol="0" anchor="ctr"/>
          <a:lstStyle/>
          <a:p>
            <a:pPr algn="l" marL="342900" indent="-342900">
              <a:buSzPct val="100000"/>
              <a:buChar char="•"/>
            </a:pPr>
            <a:r>
              <a:rPr lang="en-US" sz="1600" dirty="0">
                <a:solidFill>
                  <a:srgbClr val="374151"/>
                </a:solidFill>
              </a:rPr>
              <a:t>- 必要なマスキング操作をガイダンス</a:t>
            </a:r>
            <a:endParaRPr lang="en-US" sz="1600" dirty="0"/>
          </a:p>
        </p:txBody>
      </p:sp>
      <p:sp>
        <p:nvSpPr>
          <p:cNvPr id="11" name="Text 9"/>
          <p:cNvSpPr/>
          <p:nvPr/>
        </p:nvSpPr>
        <p:spPr>
          <a:xfrm>
            <a:off x="731520" y="5303520"/>
            <a:ext cx="7680960" cy="457200"/>
          </a:xfrm>
          <a:prstGeom prst="rect">
            <a:avLst/>
          </a:prstGeom>
          <a:noFill/>
          <a:ln/>
        </p:spPr>
        <p:txBody>
          <a:bodyPr wrap="square" rtlCol="0" anchor="ctr"/>
          <a:lstStyle/>
          <a:p>
            <a:pPr algn="l" marL="342900" indent="-342900">
              <a:buSzPct val="100000"/>
              <a:buChar char="•"/>
            </a:pPr>
            <a:r>
              <a:rPr lang="en-US" sz="1600" dirty="0">
                <a:solidFill>
                  <a:srgbClr val="374151"/>
                </a:solidFill>
              </a:rPr>
              <a:t>- 判定ミス時に根拠をフィードバック</a:t>
            </a:r>
            <a:endParaRPr lang="en-US" sz="1600" dirty="0"/>
          </a:p>
        </p:txBody>
      </p:sp>
      <p:sp>
        <p:nvSpPr>
          <p:cNvPr id="12" name="Text 10"/>
          <p:cNvSpPr/>
          <p:nvPr/>
        </p:nvSpPr>
        <p:spPr>
          <a:xfrm>
            <a:off x="8778240" y="6217920"/>
            <a:ext cx="365760" cy="274320"/>
          </a:xfrm>
          <a:prstGeom prst="rect">
            <a:avLst/>
          </a:prstGeom>
          <a:noFill/>
          <a:ln/>
        </p:spPr>
        <p:txBody>
          <a:bodyPr wrap="square" rtlCol="0" anchor="ctr"/>
          <a:lstStyle/>
          <a:p>
            <a:pPr algn="r" indent="0" marL="0">
              <a:buNone/>
            </a:pPr>
            <a:r>
              <a:rPr lang="en-US" sz="1200" dirty="0">
                <a:solidFill>
                  <a:srgbClr val="94A3B8"/>
                </a:solidFill>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57200"/>
            <a:ext cx="8229600" cy="731520"/>
          </a:xfrm>
          <a:prstGeom prst="rect">
            <a:avLst/>
          </a:prstGeom>
          <a:noFill/>
          <a:ln/>
        </p:spPr>
        <p:txBody>
          <a:bodyPr wrap="square" rtlCol="0" anchor="ctr"/>
          <a:lstStyle/>
          <a:p>
            <a:pPr algn="l" indent="0" marL="0">
              <a:buNone/>
            </a:pPr>
            <a:r>
              <a:rPr lang="en-US" sz="3200" b="1" dirty="0">
                <a:solidFill>
                  <a:srgbClr val="1F2937"/>
                </a:solidFill>
              </a:rPr>
              <a:t>マスキング量算出</a:t>
            </a:r>
            <a:endParaRPr lang="en-US" sz="3200" dirty="0"/>
          </a:p>
        </p:txBody>
      </p:sp>
      <p:sp>
        <p:nvSpPr>
          <p:cNvPr id="3" name="Text 1"/>
          <p:cNvSpPr/>
          <p:nvPr/>
        </p:nvSpPr>
        <p:spPr>
          <a:xfrm>
            <a:off x="731520" y="1645920"/>
            <a:ext cx="7680960" cy="457200"/>
          </a:xfrm>
          <a:prstGeom prst="rect">
            <a:avLst/>
          </a:prstGeom>
          <a:noFill/>
          <a:ln/>
        </p:spPr>
        <p:txBody>
          <a:bodyPr wrap="square" rtlCol="0" anchor="ctr"/>
          <a:lstStyle/>
          <a:p>
            <a:pPr algn="l" indent="0" marL="0">
              <a:buNone/>
            </a:pPr>
            <a:r>
              <a:rPr lang="en-US" sz="1600" dirty="0">
                <a:solidFill>
                  <a:srgbClr val="374151"/>
                </a:solidFill>
              </a:rPr>
              <a:t>マスキング量算出</a:t>
            </a:r>
            <a:endParaRPr lang="en-US" sz="1600" dirty="0"/>
          </a:p>
        </p:txBody>
      </p:sp>
      <p:sp>
        <p:nvSpPr>
          <p:cNvPr id="4" name="Text 2"/>
          <p:cNvSpPr/>
          <p:nvPr/>
        </p:nvSpPr>
        <p:spPr>
          <a:xfrm>
            <a:off x="731520" y="2103120"/>
            <a:ext cx="7680960" cy="457200"/>
          </a:xfrm>
          <a:prstGeom prst="rect">
            <a:avLst/>
          </a:prstGeom>
          <a:noFill/>
          <a:ln/>
        </p:spPr>
        <p:txBody>
          <a:bodyPr wrap="square" rtlCol="0" anchor="ctr"/>
          <a:lstStyle/>
          <a:p>
            <a:pPr algn="l" indent="0" marL="0">
              <a:buNone/>
            </a:pPr>
            <a:r>
              <a:rPr lang="en-US" sz="1600" dirty="0">
                <a:solidFill>
                  <a:srgbClr val="374151"/>
                </a:solidFill>
              </a:rPr>
              <a:t>推奨計算（受講者が手計算）</a:t>
            </a:r>
            <a:endParaRPr lang="en-US" sz="1600" dirty="0"/>
          </a:p>
        </p:txBody>
      </p:sp>
      <p:sp>
        <p:nvSpPr>
          <p:cNvPr id="5" name="Text 3"/>
          <p:cNvSpPr/>
          <p:nvPr/>
        </p:nvSpPr>
        <p:spPr>
          <a:xfrm>
            <a:off x="731520" y="2560320"/>
            <a:ext cx="7680960" cy="457200"/>
          </a:xfrm>
          <a:prstGeom prst="rect">
            <a:avLst/>
          </a:prstGeom>
          <a:noFill/>
          <a:ln/>
        </p:spPr>
        <p:txBody>
          <a:bodyPr wrap="square" rtlCol="0" anchor="ctr"/>
          <a:lstStyle/>
          <a:p>
            <a:pPr algn="l" marL="342900" indent="-342900">
              <a:buSzPct val="100000"/>
              <a:buChar char="•"/>
            </a:pPr>
            <a:r>
              <a:rPr lang="en-US" sz="1600" dirty="0">
                <a:solidFill>
                  <a:srgbClr val="374151"/>
                </a:solidFill>
              </a:rPr>
              <a:t>- 気導：TE AC + セーフティマージン - IA</a:t>
            </a:r>
            <a:endParaRPr lang="en-US" sz="1600" dirty="0"/>
          </a:p>
        </p:txBody>
      </p:sp>
      <p:sp>
        <p:nvSpPr>
          <p:cNvPr id="6" name="Text 4"/>
          <p:cNvSpPr/>
          <p:nvPr/>
        </p:nvSpPr>
        <p:spPr>
          <a:xfrm>
            <a:off x="731520" y="3017520"/>
            <a:ext cx="7680960" cy="457200"/>
          </a:xfrm>
          <a:prstGeom prst="rect">
            <a:avLst/>
          </a:prstGeom>
          <a:noFill/>
          <a:ln/>
        </p:spPr>
        <p:txBody>
          <a:bodyPr wrap="square" rtlCol="0" anchor="ctr"/>
          <a:lstStyle/>
          <a:p>
            <a:pPr algn="l" marL="342900" indent="-342900">
              <a:buSzPct val="100000"/>
              <a:buChar char="•"/>
            </a:pPr>
            <a:r>
              <a:rPr lang="en-US" sz="1600" dirty="0">
                <a:solidFill>
                  <a:srgbClr val="374151"/>
                </a:solidFill>
              </a:rPr>
              <a:t>- 骨導：TE BC + セーフティマージン</a:t>
            </a:r>
            <a:endParaRPr lang="en-US" sz="1600" dirty="0"/>
          </a:p>
        </p:txBody>
      </p:sp>
      <p:sp>
        <p:nvSpPr>
          <p:cNvPr id="7" name="Text 5"/>
          <p:cNvSpPr/>
          <p:nvPr/>
        </p:nvSpPr>
        <p:spPr>
          <a:xfrm>
            <a:off x="731520" y="3474720"/>
            <a:ext cx="7680960" cy="457200"/>
          </a:xfrm>
          <a:prstGeom prst="rect">
            <a:avLst/>
          </a:prstGeom>
          <a:noFill/>
          <a:ln/>
        </p:spPr>
        <p:txBody>
          <a:bodyPr wrap="square" rtlCol="0" anchor="ctr"/>
          <a:lstStyle/>
          <a:p>
            <a:pPr algn="l" marL="342900" indent="-342900">
              <a:buSzPct val="100000"/>
              <a:buChar char="•"/>
            </a:pPr>
            <a:r>
              <a:rPr lang="en-US" sz="1600" dirty="0">
                <a:solidFill>
                  <a:srgbClr val="374151"/>
                </a:solidFill>
              </a:rPr>
              <a:t>- セーフティマージンは 10dB を基準に調整</a:t>
            </a:r>
            <a:endParaRPr lang="en-US" sz="1600" dirty="0"/>
          </a:p>
        </p:txBody>
      </p:sp>
      <p:sp>
        <p:nvSpPr>
          <p:cNvPr id="8" name="Text 6"/>
          <p:cNvSpPr/>
          <p:nvPr/>
        </p:nvSpPr>
        <p:spPr>
          <a:xfrm>
            <a:off x="731520" y="3931920"/>
            <a:ext cx="7680960" cy="457200"/>
          </a:xfrm>
          <a:prstGeom prst="rect">
            <a:avLst/>
          </a:prstGeom>
          <a:noFill/>
          <a:ln/>
        </p:spPr>
        <p:txBody>
          <a:bodyPr wrap="square" rtlCol="0" anchor="ctr"/>
          <a:lstStyle/>
          <a:p>
            <a:pPr algn="l" indent="0" marL="0">
              <a:buNone/>
            </a:pPr>
            <a:r>
              <a:rPr lang="en-US" sz="1600" dirty="0">
                <a:solidFill>
                  <a:srgbClr val="374151"/>
                </a:solidFill>
              </a:rPr>
              <a:t>アプリでの表示（AI サポート）</a:t>
            </a:r>
            <a:endParaRPr lang="en-US" sz="1600" dirty="0"/>
          </a:p>
        </p:txBody>
      </p:sp>
      <p:sp>
        <p:nvSpPr>
          <p:cNvPr id="9" name="Text 7"/>
          <p:cNvSpPr/>
          <p:nvPr/>
        </p:nvSpPr>
        <p:spPr>
          <a:xfrm>
            <a:off x="731520" y="4389120"/>
            <a:ext cx="7680960" cy="457200"/>
          </a:xfrm>
          <a:prstGeom prst="rect">
            <a:avLst/>
          </a:prstGeom>
          <a:noFill/>
          <a:ln/>
        </p:spPr>
        <p:txBody>
          <a:bodyPr wrap="square" rtlCol="0" anchor="ctr"/>
          <a:lstStyle/>
          <a:p>
            <a:pPr algn="l" marL="342900" indent="-342900">
              <a:buSzPct val="100000"/>
              <a:buChar char="•"/>
            </a:pPr>
            <a:r>
              <a:rPr lang="en-US" sz="1600" dirty="0">
                <a:solidFill>
                  <a:srgbClr val="374151"/>
                </a:solidFill>
              </a:rPr>
              <a:t>- 推奨値と設定欄を並列表示</a:t>
            </a:r>
            <a:endParaRPr lang="en-US" sz="1600" dirty="0"/>
          </a:p>
        </p:txBody>
      </p:sp>
      <p:sp>
        <p:nvSpPr>
          <p:cNvPr id="10" name="Text 8"/>
          <p:cNvSpPr/>
          <p:nvPr/>
        </p:nvSpPr>
        <p:spPr>
          <a:xfrm>
            <a:off x="731520" y="4846320"/>
            <a:ext cx="7680960" cy="457200"/>
          </a:xfrm>
          <a:prstGeom prst="rect">
            <a:avLst/>
          </a:prstGeom>
          <a:noFill/>
          <a:ln/>
        </p:spPr>
        <p:txBody>
          <a:bodyPr wrap="square" rtlCol="0" anchor="ctr"/>
          <a:lstStyle/>
          <a:p>
            <a:pPr algn="l" marL="342900" indent="-342900">
              <a:buSzPct val="100000"/>
              <a:buChar char="•"/>
            </a:pPr>
            <a:r>
              <a:rPr lang="en-US" sz="1600" dirty="0">
                <a:solidFill>
                  <a:srgbClr val="374151"/>
                </a:solidFill>
              </a:rPr>
              <a:t>- 入力値と推奨値の乖離をリアルタイム判定</a:t>
            </a:r>
            <a:endParaRPr lang="en-US" sz="1600" dirty="0"/>
          </a:p>
        </p:txBody>
      </p:sp>
      <p:sp>
        <p:nvSpPr>
          <p:cNvPr id="11" name="Text 9"/>
          <p:cNvSpPr/>
          <p:nvPr/>
        </p:nvSpPr>
        <p:spPr>
          <a:xfrm>
            <a:off x="731520" y="5303520"/>
            <a:ext cx="7680960" cy="457200"/>
          </a:xfrm>
          <a:prstGeom prst="rect">
            <a:avLst/>
          </a:prstGeom>
          <a:noFill/>
          <a:ln/>
        </p:spPr>
        <p:txBody>
          <a:bodyPr wrap="square" rtlCol="0" anchor="ctr"/>
          <a:lstStyle/>
          <a:p>
            <a:pPr algn="l" marL="342900" indent="-342900">
              <a:buSzPct val="100000"/>
              <a:buChar char="•"/>
            </a:pPr>
            <a:r>
              <a:rPr lang="en-US" sz="1600" dirty="0">
                <a:solidFill>
                  <a:srgbClr val="374151"/>
                </a:solidFill>
              </a:rPr>
              <a:t>- 適正範囲／過小／過大を色分け</a:t>
            </a:r>
            <a:endParaRPr lang="en-US" sz="1600" dirty="0"/>
          </a:p>
        </p:txBody>
      </p:sp>
      <p:sp>
        <p:nvSpPr>
          <p:cNvPr id="12" name="Text 10"/>
          <p:cNvSpPr/>
          <p:nvPr/>
        </p:nvSpPr>
        <p:spPr>
          <a:xfrm>
            <a:off x="8778240" y="6217920"/>
            <a:ext cx="365760" cy="274320"/>
          </a:xfrm>
          <a:prstGeom prst="rect">
            <a:avLst/>
          </a:prstGeom>
          <a:noFill/>
          <a:ln/>
        </p:spPr>
        <p:txBody>
          <a:bodyPr wrap="square" rtlCol="0" anchor="ctr"/>
          <a:lstStyle/>
          <a:p>
            <a:pPr algn="r" indent="0" marL="0">
              <a:buNone/>
            </a:pPr>
            <a:r>
              <a:rPr lang="en-US" sz="1200" dirty="0">
                <a:solidFill>
                  <a:srgbClr val="94A3B8"/>
                </a:solidFill>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57200"/>
            <a:ext cx="8229600" cy="731520"/>
          </a:xfrm>
          <a:prstGeom prst="rect">
            <a:avLst/>
          </a:prstGeom>
          <a:noFill/>
          <a:ln/>
        </p:spPr>
        <p:txBody>
          <a:bodyPr wrap="square" rtlCol="0" anchor="ctr"/>
          <a:lstStyle/>
          <a:p>
            <a:pPr algn="l" indent="0" marL="0">
              <a:buNone/>
            </a:pPr>
            <a:r>
              <a:rPr lang="en-US" sz="3200" b="1" dirty="0">
                <a:solidFill>
                  <a:srgbClr val="1F2937"/>
                </a:solidFill>
              </a:rPr>
              <a:t>クロスヒアリング監視</a:t>
            </a:r>
            <a:endParaRPr lang="en-US" sz="3200" dirty="0"/>
          </a:p>
        </p:txBody>
      </p:sp>
      <p:sp>
        <p:nvSpPr>
          <p:cNvPr id="3" name="Text 1"/>
          <p:cNvSpPr/>
          <p:nvPr/>
        </p:nvSpPr>
        <p:spPr>
          <a:xfrm>
            <a:off x="731520" y="1645920"/>
            <a:ext cx="7680960" cy="457200"/>
          </a:xfrm>
          <a:prstGeom prst="rect">
            <a:avLst/>
          </a:prstGeom>
          <a:noFill/>
          <a:ln/>
        </p:spPr>
        <p:txBody>
          <a:bodyPr wrap="square" rtlCol="0" anchor="ctr"/>
          <a:lstStyle/>
          <a:p>
            <a:pPr algn="l" indent="0" marL="0">
              <a:buNone/>
            </a:pPr>
            <a:r>
              <a:rPr lang="en-US" sz="1600" dirty="0">
                <a:solidFill>
                  <a:srgbClr val="374151"/>
                </a:solidFill>
              </a:rPr>
              <a:t>クロスヒアリング監視</a:t>
            </a:r>
            <a:endParaRPr lang="en-US" sz="1600" dirty="0"/>
          </a:p>
        </p:txBody>
      </p:sp>
      <p:sp>
        <p:nvSpPr>
          <p:cNvPr id="4" name="Text 2"/>
          <p:cNvSpPr/>
          <p:nvPr/>
        </p:nvSpPr>
        <p:spPr>
          <a:xfrm>
            <a:off x="731520" y="2103120"/>
            <a:ext cx="7680960" cy="457200"/>
          </a:xfrm>
          <a:prstGeom prst="rect">
            <a:avLst/>
          </a:prstGeom>
          <a:noFill/>
          <a:ln/>
        </p:spPr>
        <p:txBody>
          <a:bodyPr wrap="square" rtlCol="0" anchor="ctr"/>
          <a:lstStyle/>
          <a:p>
            <a:pPr algn="l" indent="0" marL="0">
              <a:buNone/>
            </a:pPr>
            <a:r>
              <a:rPr lang="en-US" sz="1600" dirty="0">
                <a:solidFill>
                  <a:srgbClr val="374151"/>
                </a:solidFill>
              </a:rPr>
              <a:t>監視ポイント</a:t>
            </a:r>
            <a:endParaRPr lang="en-US" sz="1600" dirty="0"/>
          </a:p>
        </p:txBody>
      </p:sp>
      <p:sp>
        <p:nvSpPr>
          <p:cNvPr id="5" name="Text 3"/>
          <p:cNvSpPr/>
          <p:nvPr/>
        </p:nvSpPr>
        <p:spPr>
          <a:xfrm>
            <a:off x="731520" y="2560320"/>
            <a:ext cx="7680960" cy="457200"/>
          </a:xfrm>
          <a:prstGeom prst="rect">
            <a:avLst/>
          </a:prstGeom>
          <a:noFill/>
          <a:ln/>
        </p:spPr>
        <p:txBody>
          <a:bodyPr wrap="square" rtlCol="0" anchor="ctr"/>
          <a:lstStyle/>
          <a:p>
            <a:pPr algn="l" marL="342900" indent="-342900">
              <a:buSzPct val="100000"/>
              <a:buChar char="•"/>
            </a:pPr>
            <a:r>
              <a:rPr lang="en-US" sz="1600" dirty="0">
                <a:solidFill>
                  <a:srgbClr val="374151"/>
                </a:solidFill>
              </a:rPr>
              <a:t>- マスキング下で意図しない応答がないか</a:t>
            </a:r>
            <a:endParaRPr lang="en-US" sz="1600" dirty="0"/>
          </a:p>
        </p:txBody>
      </p:sp>
      <p:sp>
        <p:nvSpPr>
          <p:cNvPr id="6" name="Text 4"/>
          <p:cNvSpPr/>
          <p:nvPr/>
        </p:nvSpPr>
        <p:spPr>
          <a:xfrm>
            <a:off x="731520" y="3017520"/>
            <a:ext cx="7680960" cy="457200"/>
          </a:xfrm>
          <a:prstGeom prst="rect">
            <a:avLst/>
          </a:prstGeom>
          <a:noFill/>
          <a:ln/>
        </p:spPr>
        <p:txBody>
          <a:bodyPr wrap="square" rtlCol="0" anchor="ctr"/>
          <a:lstStyle/>
          <a:p>
            <a:pPr algn="l" marL="342900" indent="-342900">
              <a:buSzPct val="100000"/>
              <a:buChar char="•"/>
            </a:pPr>
            <a:r>
              <a:rPr lang="en-US" sz="1600" dirty="0">
                <a:solidFill>
                  <a:srgbClr val="374151"/>
                </a:solidFill>
              </a:rPr>
              <a:t>- 対側閾値との関係から cross-check</a:t>
            </a:r>
            <a:endParaRPr lang="en-US" sz="1600" dirty="0"/>
          </a:p>
        </p:txBody>
      </p:sp>
      <p:sp>
        <p:nvSpPr>
          <p:cNvPr id="7" name="Text 5"/>
          <p:cNvSpPr/>
          <p:nvPr/>
        </p:nvSpPr>
        <p:spPr>
          <a:xfrm>
            <a:off x="731520" y="3474720"/>
            <a:ext cx="7680960" cy="457200"/>
          </a:xfrm>
          <a:prstGeom prst="rect">
            <a:avLst/>
          </a:prstGeom>
          <a:noFill/>
          <a:ln/>
        </p:spPr>
        <p:txBody>
          <a:bodyPr wrap="square" rtlCol="0" anchor="ctr"/>
          <a:lstStyle/>
          <a:p>
            <a:pPr algn="l" marL="342900" indent="-342900">
              <a:buSzPct val="100000"/>
              <a:buChar char="•"/>
            </a:pPr>
            <a:r>
              <a:rPr lang="en-US" sz="1600" dirty="0">
                <a:solidFill>
                  <a:srgbClr val="374151"/>
                </a:solidFill>
              </a:rPr>
              <a:t>- BC 測定時の反対耳への伝播に注意</a:t>
            </a:r>
            <a:endParaRPr lang="en-US" sz="1600" dirty="0"/>
          </a:p>
        </p:txBody>
      </p:sp>
      <p:sp>
        <p:nvSpPr>
          <p:cNvPr id="8" name="Text 6"/>
          <p:cNvSpPr/>
          <p:nvPr/>
        </p:nvSpPr>
        <p:spPr>
          <a:xfrm>
            <a:off x="731520" y="3931920"/>
            <a:ext cx="7680960" cy="457200"/>
          </a:xfrm>
          <a:prstGeom prst="rect">
            <a:avLst/>
          </a:prstGeom>
          <a:noFill/>
          <a:ln/>
        </p:spPr>
        <p:txBody>
          <a:bodyPr wrap="square" rtlCol="0" anchor="ctr"/>
          <a:lstStyle/>
          <a:p>
            <a:pPr algn="l" indent="0" marL="0">
              <a:buNone/>
            </a:pPr>
            <a:r>
              <a:rPr lang="en-US" sz="1600" dirty="0">
                <a:solidFill>
                  <a:srgbClr val="374151"/>
                </a:solidFill>
              </a:rPr>
              <a:t>システム挙動</a:t>
            </a:r>
            <a:endParaRPr lang="en-US" sz="1600" dirty="0"/>
          </a:p>
        </p:txBody>
      </p:sp>
      <p:sp>
        <p:nvSpPr>
          <p:cNvPr id="9" name="Text 7"/>
          <p:cNvSpPr/>
          <p:nvPr/>
        </p:nvSpPr>
        <p:spPr>
          <a:xfrm>
            <a:off x="731520" y="4389120"/>
            <a:ext cx="7680960" cy="457200"/>
          </a:xfrm>
          <a:prstGeom prst="rect">
            <a:avLst/>
          </a:prstGeom>
          <a:noFill/>
          <a:ln/>
        </p:spPr>
        <p:txBody>
          <a:bodyPr wrap="square" rtlCol="0" anchor="ctr"/>
          <a:lstStyle/>
          <a:p>
            <a:pPr algn="l" marL="342900" indent="-342900">
              <a:buSzPct val="100000"/>
              <a:buChar char="•"/>
            </a:pPr>
            <a:r>
              <a:rPr lang="en-US" sz="1600" dirty="0">
                <a:solidFill>
                  <a:srgbClr val="374151"/>
                </a:solidFill>
              </a:rPr>
              <a:t>- 応答パターンからクロスヒアリング疑いを検出</a:t>
            </a:r>
            <a:endParaRPr lang="en-US" sz="1600" dirty="0"/>
          </a:p>
        </p:txBody>
      </p:sp>
      <p:sp>
        <p:nvSpPr>
          <p:cNvPr id="10" name="Text 8"/>
          <p:cNvSpPr/>
          <p:nvPr/>
        </p:nvSpPr>
        <p:spPr>
          <a:xfrm>
            <a:off x="731520" y="4846320"/>
            <a:ext cx="7680960" cy="457200"/>
          </a:xfrm>
          <a:prstGeom prst="rect">
            <a:avLst/>
          </a:prstGeom>
          <a:noFill/>
          <a:ln/>
        </p:spPr>
        <p:txBody>
          <a:bodyPr wrap="square" rtlCol="0" anchor="ctr"/>
          <a:lstStyle/>
          <a:p>
            <a:pPr algn="l" marL="342900" indent="-342900">
              <a:buSzPct val="100000"/>
              <a:buChar char="•"/>
            </a:pPr>
            <a:r>
              <a:rPr lang="en-US" sz="1600" dirty="0">
                <a:solidFill>
                  <a:srgbClr val="374151"/>
                </a:solidFill>
              </a:rPr>
              <a:t>- 指摘時は追加マスキングの提案を表示</a:t>
            </a:r>
            <a:endParaRPr lang="en-US" sz="1600" dirty="0"/>
          </a:p>
        </p:txBody>
      </p:sp>
      <p:sp>
        <p:nvSpPr>
          <p:cNvPr id="11" name="Text 9"/>
          <p:cNvSpPr/>
          <p:nvPr/>
        </p:nvSpPr>
        <p:spPr>
          <a:xfrm>
            <a:off x="731520" y="5303520"/>
            <a:ext cx="7680960" cy="457200"/>
          </a:xfrm>
          <a:prstGeom prst="rect">
            <a:avLst/>
          </a:prstGeom>
          <a:noFill/>
          <a:ln/>
        </p:spPr>
        <p:txBody>
          <a:bodyPr wrap="square" rtlCol="0" anchor="ctr"/>
          <a:lstStyle/>
          <a:p>
            <a:pPr algn="l" marL="342900" indent="-342900">
              <a:buSzPct val="100000"/>
              <a:buChar char="•"/>
            </a:pPr>
            <a:r>
              <a:rPr lang="en-US" sz="1600" dirty="0">
                <a:solidFill>
                  <a:srgbClr val="374151"/>
                </a:solidFill>
              </a:rPr>
              <a:t>- 学習者に判断理由をフィードバック</a:t>
            </a:r>
            <a:endParaRPr lang="en-US" sz="1600" dirty="0"/>
          </a:p>
        </p:txBody>
      </p:sp>
      <p:sp>
        <p:nvSpPr>
          <p:cNvPr id="12" name="Text 10"/>
          <p:cNvSpPr/>
          <p:nvPr/>
        </p:nvSpPr>
        <p:spPr>
          <a:xfrm>
            <a:off x="8778240" y="6217920"/>
            <a:ext cx="365760" cy="274320"/>
          </a:xfrm>
          <a:prstGeom prst="rect">
            <a:avLst/>
          </a:prstGeom>
          <a:noFill/>
          <a:ln/>
        </p:spPr>
        <p:txBody>
          <a:bodyPr wrap="square" rtlCol="0" anchor="ctr"/>
          <a:lstStyle/>
          <a:p>
            <a:pPr algn="r" indent="0" marL="0">
              <a:buNone/>
            </a:pPr>
            <a:r>
              <a:rPr lang="en-US" sz="1200" dirty="0">
                <a:solidFill>
                  <a:srgbClr val="94A3B8"/>
                </a:solidFill>
              </a:rPr>
              <a:t>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57200"/>
            <a:ext cx="8229600" cy="731520"/>
          </a:xfrm>
          <a:prstGeom prst="rect">
            <a:avLst/>
          </a:prstGeom>
          <a:noFill/>
          <a:ln/>
        </p:spPr>
        <p:txBody>
          <a:bodyPr wrap="square" rtlCol="0" anchor="ctr"/>
          <a:lstStyle/>
          <a:p>
            <a:pPr algn="l" indent="0" marL="0">
              <a:buNone/>
            </a:pPr>
            <a:r>
              <a:rPr lang="en-US" sz="3200" b="1" dirty="0">
                <a:solidFill>
                  <a:srgbClr val="1F2937"/>
                </a:solidFill>
              </a:rPr>
              <a:t>オーバーマスキング対策</a:t>
            </a:r>
            <a:endParaRPr lang="en-US" sz="3200" dirty="0"/>
          </a:p>
        </p:txBody>
      </p:sp>
      <p:sp>
        <p:nvSpPr>
          <p:cNvPr id="3" name="Text 1"/>
          <p:cNvSpPr/>
          <p:nvPr/>
        </p:nvSpPr>
        <p:spPr>
          <a:xfrm>
            <a:off x="731520" y="1645920"/>
            <a:ext cx="7680960" cy="457200"/>
          </a:xfrm>
          <a:prstGeom prst="rect">
            <a:avLst/>
          </a:prstGeom>
          <a:noFill/>
          <a:ln/>
        </p:spPr>
        <p:txBody>
          <a:bodyPr wrap="square" rtlCol="0" anchor="ctr"/>
          <a:lstStyle/>
          <a:p>
            <a:pPr algn="l" indent="0" marL="0">
              <a:buNone/>
            </a:pPr>
            <a:r>
              <a:rPr lang="en-US" sz="1600" dirty="0">
                <a:solidFill>
                  <a:srgbClr val="374151"/>
                </a:solidFill>
              </a:rPr>
              <a:t>オーバーマスキング対策</a:t>
            </a:r>
            <a:endParaRPr lang="en-US" sz="1600" dirty="0"/>
          </a:p>
        </p:txBody>
      </p:sp>
      <p:sp>
        <p:nvSpPr>
          <p:cNvPr id="4" name="Text 2"/>
          <p:cNvSpPr/>
          <p:nvPr/>
        </p:nvSpPr>
        <p:spPr>
          <a:xfrm>
            <a:off x="731520" y="2103120"/>
            <a:ext cx="7680960" cy="457200"/>
          </a:xfrm>
          <a:prstGeom prst="rect">
            <a:avLst/>
          </a:prstGeom>
          <a:noFill/>
          <a:ln/>
        </p:spPr>
        <p:txBody>
          <a:bodyPr wrap="square" rtlCol="0" anchor="ctr"/>
          <a:lstStyle/>
          <a:p>
            <a:pPr algn="l" indent="0" marL="0">
              <a:buNone/>
            </a:pPr>
            <a:r>
              <a:rPr lang="en-US" sz="1600" dirty="0">
                <a:solidFill>
                  <a:srgbClr val="374151"/>
                </a:solidFill>
              </a:rPr>
              <a:t>判定</a:t>
            </a:r>
            <a:endParaRPr lang="en-US" sz="1600" dirty="0"/>
          </a:p>
        </p:txBody>
      </p:sp>
      <p:sp>
        <p:nvSpPr>
          <p:cNvPr id="5" name="Text 3"/>
          <p:cNvSpPr/>
          <p:nvPr/>
        </p:nvSpPr>
        <p:spPr>
          <a:xfrm>
            <a:off x="731520" y="2560320"/>
            <a:ext cx="7680960" cy="457200"/>
          </a:xfrm>
          <a:prstGeom prst="rect">
            <a:avLst/>
          </a:prstGeom>
          <a:noFill/>
          <a:ln/>
        </p:spPr>
        <p:txBody>
          <a:bodyPr wrap="square" rtlCol="0" anchor="ctr"/>
          <a:lstStyle/>
          <a:p>
            <a:pPr algn="l" marL="342900" indent="-342900">
              <a:buSzPct val="100000"/>
              <a:buChar char="•"/>
            </a:pPr>
            <a:r>
              <a:rPr lang="en-US" sz="1600" dirty="0">
                <a:solidFill>
                  <a:srgbClr val="374151"/>
                </a:solidFill>
              </a:rPr>
              <a:t>- マスキングノイズが test ear に漏れ込む兆候</a:t>
            </a:r>
            <a:endParaRPr lang="en-US" sz="1600" dirty="0"/>
          </a:p>
        </p:txBody>
      </p:sp>
      <p:sp>
        <p:nvSpPr>
          <p:cNvPr id="6" name="Text 4"/>
          <p:cNvSpPr/>
          <p:nvPr/>
        </p:nvSpPr>
        <p:spPr>
          <a:xfrm>
            <a:off x="731520" y="3017520"/>
            <a:ext cx="7680960" cy="457200"/>
          </a:xfrm>
          <a:prstGeom prst="rect">
            <a:avLst/>
          </a:prstGeom>
          <a:noFill/>
          <a:ln/>
        </p:spPr>
        <p:txBody>
          <a:bodyPr wrap="square" rtlCol="0" anchor="ctr"/>
          <a:lstStyle/>
          <a:p>
            <a:pPr algn="l" marL="342900" indent="-342900">
              <a:buSzPct val="100000"/>
              <a:buChar char="•"/>
            </a:pPr>
            <a:r>
              <a:rPr lang="en-US" sz="1600" dirty="0">
                <a:solidFill>
                  <a:srgbClr val="374151"/>
                </a:solidFill>
              </a:rPr>
              <a:t>- 閾値上昇や応答消失を監視</a:t>
            </a:r>
            <a:endParaRPr lang="en-US" sz="1600" dirty="0"/>
          </a:p>
        </p:txBody>
      </p:sp>
      <p:sp>
        <p:nvSpPr>
          <p:cNvPr id="7" name="Text 5"/>
          <p:cNvSpPr/>
          <p:nvPr/>
        </p:nvSpPr>
        <p:spPr>
          <a:xfrm>
            <a:off x="731520" y="3474720"/>
            <a:ext cx="7680960" cy="457200"/>
          </a:xfrm>
          <a:prstGeom prst="rect">
            <a:avLst/>
          </a:prstGeom>
          <a:noFill/>
          <a:ln/>
        </p:spPr>
        <p:txBody>
          <a:bodyPr wrap="square" rtlCol="0" anchor="ctr"/>
          <a:lstStyle/>
          <a:p>
            <a:pPr algn="l" indent="0" marL="0">
              <a:buNone/>
            </a:pPr>
            <a:r>
              <a:rPr lang="en-US" sz="1600" dirty="0">
                <a:solidFill>
                  <a:srgbClr val="374151"/>
                </a:solidFill>
              </a:rPr>
              <a:t>対応フロー</a:t>
            </a:r>
            <a:endParaRPr lang="en-US" sz="1600" dirty="0"/>
          </a:p>
        </p:txBody>
      </p:sp>
      <p:sp>
        <p:nvSpPr>
          <p:cNvPr id="8" name="Text 6"/>
          <p:cNvSpPr/>
          <p:nvPr/>
        </p:nvSpPr>
        <p:spPr>
          <a:xfrm>
            <a:off x="731520" y="3931920"/>
            <a:ext cx="7680960" cy="457200"/>
          </a:xfrm>
          <a:prstGeom prst="rect">
            <a:avLst/>
          </a:prstGeom>
          <a:noFill/>
          <a:ln/>
        </p:spPr>
        <p:txBody>
          <a:bodyPr wrap="square" rtlCol="0" anchor="ctr"/>
          <a:lstStyle/>
          <a:p>
            <a:pPr algn="l" marL="342900" indent="-342900">
              <a:buSzPct val="100000"/>
              <a:buChar char="•"/>
            </a:pPr>
            <a:r>
              <a:rPr lang="en-US" sz="1600" dirty="0">
                <a:solidFill>
                  <a:srgbClr val="374151"/>
                </a:solidFill>
              </a:rPr>
              <a:t>- マスキングレベルを段階的に減少</a:t>
            </a:r>
            <a:endParaRPr lang="en-US" sz="1600" dirty="0"/>
          </a:p>
        </p:txBody>
      </p:sp>
      <p:sp>
        <p:nvSpPr>
          <p:cNvPr id="9" name="Text 7"/>
          <p:cNvSpPr/>
          <p:nvPr/>
        </p:nvSpPr>
        <p:spPr>
          <a:xfrm>
            <a:off x="731520" y="4389120"/>
            <a:ext cx="7680960" cy="457200"/>
          </a:xfrm>
          <a:prstGeom prst="rect">
            <a:avLst/>
          </a:prstGeom>
          <a:noFill/>
          <a:ln/>
        </p:spPr>
        <p:txBody>
          <a:bodyPr wrap="square" rtlCol="0" anchor="ctr"/>
          <a:lstStyle/>
          <a:p>
            <a:pPr algn="l" marL="342900" indent="-342900">
              <a:buSzPct val="100000"/>
              <a:buChar char="•"/>
            </a:pPr>
            <a:r>
              <a:rPr lang="en-US" sz="1600" dirty="0">
                <a:solidFill>
                  <a:srgbClr val="374151"/>
                </a:solidFill>
              </a:rPr>
              <a:t>- 再測定で閾値を再確認</a:t>
            </a:r>
            <a:endParaRPr lang="en-US" sz="1600" dirty="0"/>
          </a:p>
        </p:txBody>
      </p:sp>
      <p:sp>
        <p:nvSpPr>
          <p:cNvPr id="10" name="Text 8"/>
          <p:cNvSpPr/>
          <p:nvPr/>
        </p:nvSpPr>
        <p:spPr>
          <a:xfrm>
            <a:off x="731520" y="4846320"/>
            <a:ext cx="7680960" cy="457200"/>
          </a:xfrm>
          <a:prstGeom prst="rect">
            <a:avLst/>
          </a:prstGeom>
          <a:noFill/>
          <a:ln/>
        </p:spPr>
        <p:txBody>
          <a:bodyPr wrap="square" rtlCol="0" anchor="ctr"/>
          <a:lstStyle/>
          <a:p>
            <a:pPr algn="l" marL="342900" indent="-342900">
              <a:buSzPct val="100000"/>
              <a:buChar char="•"/>
            </a:pPr>
            <a:r>
              <a:rPr lang="en-US" sz="1600" dirty="0">
                <a:solidFill>
                  <a:srgbClr val="374151"/>
                </a:solidFill>
              </a:rPr>
              <a:t>- ルールに沿った最適値を提案</a:t>
            </a:r>
            <a:endParaRPr lang="en-US" sz="1600" dirty="0"/>
          </a:p>
        </p:txBody>
      </p:sp>
      <p:sp>
        <p:nvSpPr>
          <p:cNvPr id="11" name="Text 9"/>
          <p:cNvSpPr/>
          <p:nvPr/>
        </p:nvSpPr>
        <p:spPr>
          <a:xfrm>
            <a:off x="8778240" y="6217920"/>
            <a:ext cx="365760" cy="274320"/>
          </a:xfrm>
          <a:prstGeom prst="rect">
            <a:avLst/>
          </a:prstGeom>
          <a:noFill/>
          <a:ln/>
        </p:spPr>
        <p:txBody>
          <a:bodyPr wrap="square" rtlCol="0" anchor="ctr"/>
          <a:lstStyle/>
          <a:p>
            <a:pPr algn="r" indent="0" marL="0">
              <a:buNone/>
            </a:pPr>
            <a:r>
              <a:rPr lang="en-US" sz="1200" dirty="0">
                <a:solidFill>
                  <a:srgbClr val="94A3B8"/>
                </a:solidFill>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57200"/>
            <a:ext cx="8229600" cy="731520"/>
          </a:xfrm>
          <a:prstGeom prst="rect">
            <a:avLst/>
          </a:prstGeom>
          <a:noFill/>
          <a:ln/>
        </p:spPr>
        <p:txBody>
          <a:bodyPr wrap="square" rtlCol="0" anchor="ctr"/>
          <a:lstStyle/>
          <a:p>
            <a:pPr algn="l" indent="0" marL="0">
              <a:buNone/>
            </a:pPr>
            <a:r>
              <a:rPr lang="en-US" sz="3200" b="1" dirty="0">
                <a:solidFill>
                  <a:srgbClr val="1F2937"/>
                </a:solidFill>
              </a:rPr>
              <a:t>全体フローチャート</a:t>
            </a:r>
            <a:endParaRPr lang="en-US" sz="3200" dirty="0"/>
          </a:p>
        </p:txBody>
      </p:sp>
      <p:sp>
        <p:nvSpPr>
          <p:cNvPr id="3" name="Text 1"/>
          <p:cNvSpPr/>
          <p:nvPr/>
        </p:nvSpPr>
        <p:spPr>
          <a:xfrm>
            <a:off x="731520" y="1645920"/>
            <a:ext cx="7680960" cy="457200"/>
          </a:xfrm>
          <a:prstGeom prst="rect">
            <a:avLst/>
          </a:prstGeom>
          <a:noFill/>
          <a:ln/>
        </p:spPr>
        <p:txBody>
          <a:bodyPr wrap="square" rtlCol="0" anchor="ctr"/>
          <a:lstStyle/>
          <a:p>
            <a:pPr algn="l" indent="0" marL="0">
              <a:buNone/>
            </a:pPr>
            <a:r>
              <a:rPr lang="en-US" sz="1600" dirty="0">
                <a:solidFill>
                  <a:srgbClr val="374151"/>
                </a:solidFill>
              </a:rPr>
              <a:t>全体フローチャート</a:t>
            </a:r>
            <a:endParaRPr lang="en-US" sz="1600" dirty="0"/>
          </a:p>
        </p:txBody>
      </p:sp>
      <p:sp>
        <p:nvSpPr>
          <p:cNvPr id="4" name="Text 2"/>
          <p:cNvSpPr/>
          <p:nvPr/>
        </p:nvSpPr>
        <p:spPr>
          <a:xfrm>
            <a:off x="731520" y="2103120"/>
            <a:ext cx="7680960" cy="457200"/>
          </a:xfrm>
          <a:prstGeom prst="rect">
            <a:avLst/>
          </a:prstGeom>
          <a:noFill/>
          <a:ln/>
        </p:spPr>
        <p:txBody>
          <a:bodyPr wrap="square" rtlCol="0" anchor="ctr"/>
          <a:lstStyle/>
          <a:p>
            <a:pPr algn="l" indent="0" marL="0">
              <a:buNone/>
            </a:pPr>
            <a:r>
              <a:rPr lang="en-US" sz="1600" dirty="0">
                <a:solidFill>
                  <a:srgbClr val="374151"/>
                </a:solidFill>
              </a:rPr>
              <a:t>flowchart TD</a:t>
            </a:r>
            <a:endParaRPr lang="en-US" sz="1600" dirty="0"/>
          </a:p>
        </p:txBody>
      </p:sp>
      <p:sp>
        <p:nvSpPr>
          <p:cNvPr id="5" name="Text 3"/>
          <p:cNvSpPr/>
          <p:nvPr/>
        </p:nvSpPr>
        <p:spPr>
          <a:xfrm>
            <a:off x="731520" y="2560320"/>
            <a:ext cx="7680960" cy="457200"/>
          </a:xfrm>
          <a:prstGeom prst="rect">
            <a:avLst/>
          </a:prstGeom>
          <a:noFill/>
          <a:ln/>
        </p:spPr>
        <p:txBody>
          <a:bodyPr wrap="square" rtlCol="0" anchor="ctr"/>
          <a:lstStyle/>
          <a:p>
            <a:pPr algn="l" indent="0" marL="0">
              <a:buNone/>
            </a:pPr>
            <a:r>
              <a:rPr lang="en-US" sz="1600" dirty="0">
                <a:solidFill>
                  <a:srgbClr val="374151"/>
                </a:solidFill>
              </a:rPr>
              <a:t>  subgraph AI[AIの役割]</a:t>
            </a:r>
            <a:endParaRPr lang="en-US" sz="1600" dirty="0"/>
          </a:p>
        </p:txBody>
      </p:sp>
      <p:sp>
        <p:nvSpPr>
          <p:cNvPr id="6" name="Text 4"/>
          <p:cNvSpPr/>
          <p:nvPr/>
        </p:nvSpPr>
        <p:spPr>
          <a:xfrm>
            <a:off x="731520" y="3017520"/>
            <a:ext cx="7680960" cy="457200"/>
          </a:xfrm>
          <a:prstGeom prst="rect">
            <a:avLst/>
          </a:prstGeom>
          <a:noFill/>
          <a:ln/>
        </p:spPr>
        <p:txBody>
          <a:bodyPr wrap="square" rtlCol="0" anchor="ctr"/>
          <a:lstStyle/>
          <a:p>
            <a:pPr algn="l" indent="0" marL="0">
              <a:buNone/>
            </a:pPr>
            <a:r>
              <a:rPr lang="en-US" sz="1600" dirty="0">
                <a:solidFill>
                  <a:srgbClr val="374151"/>
                </a:solidFill>
              </a:rPr>
              <a:t>    Start[症例生成] --&gt; ACGen[AC/BC初期値と補助検査生成]</a:t>
            </a:r>
            <a:endParaRPr lang="en-US" sz="1600" dirty="0"/>
          </a:p>
        </p:txBody>
      </p:sp>
      <p:sp>
        <p:nvSpPr>
          <p:cNvPr id="7" name="Text 5"/>
          <p:cNvSpPr/>
          <p:nvPr/>
        </p:nvSpPr>
        <p:spPr>
          <a:xfrm>
            <a:off x="731520" y="3474720"/>
            <a:ext cx="7680960" cy="457200"/>
          </a:xfrm>
          <a:prstGeom prst="rect">
            <a:avLst/>
          </a:prstGeom>
          <a:noFill/>
          <a:ln/>
        </p:spPr>
        <p:txBody>
          <a:bodyPr wrap="square" rtlCol="0" anchor="ctr"/>
          <a:lstStyle/>
          <a:p>
            <a:pPr algn="l" indent="0" marL="0">
              <a:buNone/>
            </a:pPr>
            <a:r>
              <a:rPr lang="en-US" sz="1600" dirty="0">
                <a:solidFill>
                  <a:srgbClr val="374151"/>
                </a:solidFill>
              </a:rPr>
              <a:t>    ACGen --&gt; Guidance[判定ガイド・推奨値提示]</a:t>
            </a:r>
            <a:endParaRPr lang="en-US" sz="1600" dirty="0"/>
          </a:p>
        </p:txBody>
      </p:sp>
      <p:sp>
        <p:nvSpPr>
          <p:cNvPr id="8" name="Text 6"/>
          <p:cNvSpPr/>
          <p:nvPr/>
        </p:nvSpPr>
        <p:spPr>
          <a:xfrm>
            <a:off x="731520" y="3931920"/>
            <a:ext cx="7680960" cy="457200"/>
          </a:xfrm>
          <a:prstGeom prst="rect">
            <a:avLst/>
          </a:prstGeom>
          <a:noFill/>
          <a:ln/>
        </p:spPr>
        <p:txBody>
          <a:bodyPr wrap="square" rtlCol="0" anchor="ctr"/>
          <a:lstStyle/>
          <a:p>
            <a:pPr algn="l" indent="0" marL="0">
              <a:buNone/>
            </a:pPr>
            <a:r>
              <a:rPr lang="en-US" sz="1600" dirty="0">
                <a:solidFill>
                  <a:srgbClr val="374151"/>
                </a:solidFill>
              </a:rPr>
              <a:t>    Feedback[結果照合・フィードバック] --&gt; Start</a:t>
            </a:r>
            <a:endParaRPr lang="en-US" sz="1600" dirty="0"/>
          </a:p>
        </p:txBody>
      </p:sp>
      <p:sp>
        <p:nvSpPr>
          <p:cNvPr id="9" name="Text 7"/>
          <p:cNvSpPr/>
          <p:nvPr/>
        </p:nvSpPr>
        <p:spPr>
          <a:xfrm>
            <a:off x="731520" y="4389120"/>
            <a:ext cx="7680960" cy="457200"/>
          </a:xfrm>
          <a:prstGeom prst="rect">
            <a:avLst/>
          </a:prstGeom>
          <a:noFill/>
          <a:ln/>
        </p:spPr>
        <p:txBody>
          <a:bodyPr wrap="square" rtlCol="0" anchor="ctr"/>
          <a:lstStyle/>
          <a:p>
            <a:pPr algn="l" indent="0" marL="0">
              <a:buNone/>
            </a:pPr>
            <a:r>
              <a:rPr lang="en-US" sz="1600" dirty="0">
                <a:solidFill>
                  <a:srgbClr val="374151"/>
                </a:solidFill>
              </a:rPr>
              <a:t>  end</a:t>
            </a:r>
            <a:endParaRPr lang="en-US" sz="1600" dirty="0"/>
          </a:p>
        </p:txBody>
      </p:sp>
      <p:sp>
        <p:nvSpPr>
          <p:cNvPr id="10" name="Text 8"/>
          <p:cNvSpPr/>
          <p:nvPr/>
        </p:nvSpPr>
        <p:spPr>
          <a:xfrm>
            <a:off x="731520" y="4846320"/>
            <a:ext cx="7680960" cy="457200"/>
          </a:xfrm>
          <a:prstGeom prst="rect">
            <a:avLst/>
          </a:prstGeom>
          <a:noFill/>
          <a:ln/>
        </p:spPr>
        <p:txBody>
          <a:bodyPr wrap="square" rtlCol="0" anchor="ctr"/>
          <a:lstStyle/>
          <a:p>
            <a:pPr algn="l" indent="0" marL="0">
              <a:buNone/>
            </a:pPr>
            <a:r>
              <a:rPr lang="en-US" sz="1600" dirty="0">
                <a:solidFill>
                  <a:srgbClr val="374151"/>
                </a:solidFill>
              </a:rPr>
              <a:t>  subgraph Learner[受講者の役割]</a:t>
            </a:r>
            <a:endParaRPr lang="en-US" sz="1600" dirty="0"/>
          </a:p>
        </p:txBody>
      </p:sp>
      <p:sp>
        <p:nvSpPr>
          <p:cNvPr id="11" name="Text 9"/>
          <p:cNvSpPr/>
          <p:nvPr/>
        </p:nvSpPr>
        <p:spPr>
          <a:xfrm>
            <a:off x="731520" y="5303520"/>
            <a:ext cx="7680960" cy="457200"/>
          </a:xfrm>
          <a:prstGeom prst="rect">
            <a:avLst/>
          </a:prstGeom>
          <a:noFill/>
          <a:ln/>
        </p:spPr>
        <p:txBody>
          <a:bodyPr wrap="square" rtlCol="0" anchor="ctr"/>
          <a:lstStyle/>
          <a:p>
            <a:pPr algn="l" indent="0" marL="0">
              <a:buNone/>
            </a:pPr>
            <a:r>
              <a:rPr lang="en-US" sz="1600" dirty="0">
                <a:solidFill>
                  <a:srgbClr val="374151"/>
                </a:solidFill>
              </a:rPr>
              <a:t>    ACMeasure[AC測定 5dB上昇法] --&gt; BCMeasure[BC測定とABG管理]</a:t>
            </a:r>
            <a:endParaRPr lang="en-US" sz="1600" dirty="0"/>
          </a:p>
        </p:txBody>
      </p:sp>
      <p:sp>
        <p:nvSpPr>
          <p:cNvPr id="12" name="Text 10"/>
          <p:cNvSpPr/>
          <p:nvPr/>
        </p:nvSpPr>
        <p:spPr>
          <a:xfrm>
            <a:off x="731520" y="5760720"/>
            <a:ext cx="7680960" cy="457200"/>
          </a:xfrm>
          <a:prstGeom prst="rect">
            <a:avLst/>
          </a:prstGeom>
          <a:noFill/>
          <a:ln/>
        </p:spPr>
        <p:txBody>
          <a:bodyPr wrap="square" rtlCol="0" anchor="ctr"/>
          <a:lstStyle/>
          <a:p>
            <a:pPr algn="l" indent="0" marL="0">
              <a:buNone/>
            </a:pPr>
            <a:r>
              <a:rPr lang="en-US" sz="1600" dirty="0">
                <a:solidFill>
                  <a:srgbClr val="374151"/>
                </a:solidFill>
              </a:rPr>
              <a:t>    BCMeasure --&gt; MaskCheck[マスキング要否判定]</a:t>
            </a:r>
            <a:endParaRPr lang="en-US" sz="1600" dirty="0"/>
          </a:p>
        </p:txBody>
      </p:sp>
      <p:sp>
        <p:nvSpPr>
          <p:cNvPr id="13" name="Text 11"/>
          <p:cNvSpPr/>
          <p:nvPr/>
        </p:nvSpPr>
        <p:spPr>
          <a:xfrm>
            <a:off x="731520" y="6217920"/>
            <a:ext cx="7680960" cy="457200"/>
          </a:xfrm>
          <a:prstGeom prst="rect">
            <a:avLst/>
          </a:prstGeom>
          <a:noFill/>
          <a:ln/>
        </p:spPr>
        <p:txBody>
          <a:bodyPr wrap="square" rtlCol="0" anchor="ctr"/>
          <a:lstStyle/>
          <a:p>
            <a:pPr algn="l" indent="0" marL="0">
              <a:buNone/>
            </a:pPr>
            <a:r>
              <a:rPr lang="en-US" sz="1600" dirty="0">
                <a:solidFill>
                  <a:srgbClr val="374151"/>
                </a:solidFill>
              </a:rPr>
              <a:t>    MaskCheck --&gt;|必要| MaskCalc[マスキング量算出]</a:t>
            </a:r>
            <a:endParaRPr lang="en-US" sz="1600" dirty="0"/>
          </a:p>
        </p:txBody>
      </p:sp>
      <p:sp>
        <p:nvSpPr>
          <p:cNvPr id="14" name="Text 12"/>
          <p:cNvSpPr/>
          <p:nvPr/>
        </p:nvSpPr>
        <p:spPr>
          <a:xfrm>
            <a:off x="731520" y="6675120"/>
            <a:ext cx="7315200" cy="548640"/>
          </a:xfrm>
          <a:prstGeom prst="rect">
            <a:avLst/>
          </a:prstGeom>
          <a:noFill/>
          <a:ln/>
        </p:spPr>
        <p:txBody>
          <a:bodyPr wrap="square" rtlCol="0" anchor="ctr"/>
          <a:lstStyle/>
          <a:p>
            <a:pPr indent="0" marL="0">
              <a:buNone/>
            </a:pPr>
            <a:r>
              <a:rPr lang="en-US" sz="1600" i="1" dirty="0">
                <a:solidFill>
                  <a:srgbClr val="2563EB"/>
                </a:solidFill>
              </a:rPr>
              <a:t>Mermaid 図は資料参照</a:t>
            </a:r>
            <a:endParaRPr lang="en-US" sz="1600" dirty="0"/>
          </a:p>
        </p:txBody>
      </p:sp>
      <p:sp>
        <p:nvSpPr>
          <p:cNvPr id="15" name="Text 13"/>
          <p:cNvSpPr/>
          <p:nvPr/>
        </p:nvSpPr>
        <p:spPr>
          <a:xfrm>
            <a:off x="8778240" y="6217920"/>
            <a:ext cx="365760" cy="274320"/>
          </a:xfrm>
          <a:prstGeom prst="rect">
            <a:avLst/>
          </a:prstGeom>
          <a:noFill/>
          <a:ln/>
        </p:spPr>
        <p:txBody>
          <a:bodyPr wrap="square" rtlCol="0" anchor="ctr"/>
          <a:lstStyle/>
          <a:p>
            <a:pPr algn="r" indent="0" marL="0">
              <a:buNone/>
            </a:pPr>
            <a:r>
              <a:rPr lang="en-US" sz="1200" dirty="0">
                <a:solidFill>
                  <a:srgbClr val="94A3B8"/>
                </a:solidFill>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57200"/>
            <a:ext cx="8229600" cy="731520"/>
          </a:xfrm>
          <a:prstGeom prst="rect">
            <a:avLst/>
          </a:prstGeom>
          <a:noFill/>
          <a:ln/>
        </p:spPr>
        <p:txBody>
          <a:bodyPr wrap="square" rtlCol="0" anchor="ctr"/>
          <a:lstStyle/>
          <a:p>
            <a:pPr algn="l" indent="0" marL="0">
              <a:buNone/>
            </a:pPr>
            <a:r>
              <a:rPr lang="en-US" sz="3200" b="1" dirty="0">
                <a:solidFill>
                  <a:srgbClr val="1F2937"/>
                </a:solidFill>
              </a:rPr>
              <a:t>UIとフィードバック</a:t>
            </a:r>
            <a:endParaRPr lang="en-US" sz="3200" dirty="0"/>
          </a:p>
        </p:txBody>
      </p:sp>
      <p:sp>
        <p:nvSpPr>
          <p:cNvPr id="3" name="Text 1"/>
          <p:cNvSpPr/>
          <p:nvPr/>
        </p:nvSpPr>
        <p:spPr>
          <a:xfrm>
            <a:off x="731520" y="1645920"/>
            <a:ext cx="7680960" cy="457200"/>
          </a:xfrm>
          <a:prstGeom prst="rect">
            <a:avLst/>
          </a:prstGeom>
          <a:noFill/>
          <a:ln/>
        </p:spPr>
        <p:txBody>
          <a:bodyPr wrap="square" rtlCol="0" anchor="ctr"/>
          <a:lstStyle/>
          <a:p>
            <a:pPr algn="l" indent="0" marL="0">
              <a:buNone/>
            </a:pPr>
            <a:r>
              <a:rPr lang="en-US" sz="1600" dirty="0">
                <a:solidFill>
                  <a:srgbClr val="374151"/>
                </a:solidFill>
              </a:rPr>
              <a:t>UIとフィードバック</a:t>
            </a:r>
            <a:endParaRPr lang="en-US" sz="1600" dirty="0"/>
          </a:p>
        </p:txBody>
      </p:sp>
      <p:sp>
        <p:nvSpPr>
          <p:cNvPr id="4" name="Text 2"/>
          <p:cNvSpPr/>
          <p:nvPr/>
        </p:nvSpPr>
        <p:spPr>
          <a:xfrm>
            <a:off x="731520" y="2103120"/>
            <a:ext cx="7680960" cy="457200"/>
          </a:xfrm>
          <a:prstGeom prst="rect">
            <a:avLst/>
          </a:prstGeom>
          <a:noFill/>
          <a:ln/>
        </p:spPr>
        <p:txBody>
          <a:bodyPr wrap="square" rtlCol="0" anchor="ctr"/>
          <a:lstStyle/>
          <a:p>
            <a:pPr algn="l" indent="0" marL="0">
              <a:buNone/>
            </a:pPr>
            <a:r>
              <a:rPr lang="en-US" sz="1600" dirty="0">
                <a:solidFill>
                  <a:srgbClr val="374151"/>
                </a:solidFill>
              </a:rPr>
              <a:t>学習者画面</a:t>
            </a:r>
            <a:endParaRPr lang="en-US" sz="1600" dirty="0"/>
          </a:p>
        </p:txBody>
      </p:sp>
      <p:sp>
        <p:nvSpPr>
          <p:cNvPr id="5" name="Text 3"/>
          <p:cNvSpPr/>
          <p:nvPr/>
        </p:nvSpPr>
        <p:spPr>
          <a:xfrm>
            <a:off x="731520" y="2560320"/>
            <a:ext cx="7680960" cy="457200"/>
          </a:xfrm>
          <a:prstGeom prst="rect">
            <a:avLst/>
          </a:prstGeom>
          <a:noFill/>
          <a:ln/>
        </p:spPr>
        <p:txBody>
          <a:bodyPr wrap="square" rtlCol="0" anchor="ctr"/>
          <a:lstStyle/>
          <a:p>
            <a:pPr algn="l" marL="342900" indent="-342900">
              <a:buSzPct val="100000"/>
              <a:buChar char="•"/>
            </a:pPr>
            <a:r>
              <a:rPr lang="en-US" sz="1600" dirty="0">
                <a:solidFill>
                  <a:srgbClr val="374151"/>
                </a:solidFill>
              </a:rPr>
              <a:t>- Audiogram ビュー＋マスキング入力欄</a:t>
            </a:r>
            <a:endParaRPr lang="en-US" sz="1600" dirty="0"/>
          </a:p>
        </p:txBody>
      </p:sp>
      <p:sp>
        <p:nvSpPr>
          <p:cNvPr id="6" name="Text 4"/>
          <p:cNvSpPr/>
          <p:nvPr/>
        </p:nvSpPr>
        <p:spPr>
          <a:xfrm>
            <a:off x="731520" y="3017520"/>
            <a:ext cx="7680960" cy="457200"/>
          </a:xfrm>
          <a:prstGeom prst="rect">
            <a:avLst/>
          </a:prstGeom>
          <a:noFill/>
          <a:ln/>
        </p:spPr>
        <p:txBody>
          <a:bodyPr wrap="square" rtlCol="0" anchor="ctr"/>
          <a:lstStyle/>
          <a:p>
            <a:pPr algn="l" marL="342900" indent="-342900">
              <a:buSzPct val="100000"/>
              <a:buChar char="•"/>
            </a:pPr>
            <a:r>
              <a:rPr lang="en-US" sz="1600" dirty="0">
                <a:solidFill>
                  <a:srgbClr val="374151"/>
                </a:solidFill>
              </a:rPr>
              <a:t>- 推奨値・警告表示・アドバイス</a:t>
            </a:r>
            <a:endParaRPr lang="en-US" sz="1600" dirty="0"/>
          </a:p>
        </p:txBody>
      </p:sp>
      <p:sp>
        <p:nvSpPr>
          <p:cNvPr id="7" name="Text 5"/>
          <p:cNvSpPr/>
          <p:nvPr/>
        </p:nvSpPr>
        <p:spPr>
          <a:xfrm>
            <a:off x="731520" y="3474720"/>
            <a:ext cx="7680960" cy="457200"/>
          </a:xfrm>
          <a:prstGeom prst="rect">
            <a:avLst/>
          </a:prstGeom>
          <a:noFill/>
          <a:ln/>
        </p:spPr>
        <p:txBody>
          <a:bodyPr wrap="square" rtlCol="0" anchor="ctr"/>
          <a:lstStyle/>
          <a:p>
            <a:pPr algn="l" marL="342900" indent="-342900">
              <a:buSzPct val="100000"/>
              <a:buChar char="•"/>
            </a:pPr>
            <a:r>
              <a:rPr lang="en-US" sz="1600" dirty="0">
                <a:solidFill>
                  <a:srgbClr val="374151"/>
                </a:solidFill>
              </a:rPr>
              <a:t>- 補助検査タブ（Tym／ART／DPOAE）</a:t>
            </a:r>
            <a:endParaRPr lang="en-US" sz="1600" dirty="0"/>
          </a:p>
        </p:txBody>
      </p:sp>
      <p:sp>
        <p:nvSpPr>
          <p:cNvPr id="8" name="Text 6"/>
          <p:cNvSpPr/>
          <p:nvPr/>
        </p:nvSpPr>
        <p:spPr>
          <a:xfrm>
            <a:off x="731520" y="3931920"/>
            <a:ext cx="7680960" cy="457200"/>
          </a:xfrm>
          <a:prstGeom prst="rect">
            <a:avLst/>
          </a:prstGeom>
          <a:noFill/>
          <a:ln/>
        </p:spPr>
        <p:txBody>
          <a:bodyPr wrap="square" rtlCol="0" anchor="ctr"/>
          <a:lstStyle/>
          <a:p>
            <a:pPr algn="l" indent="0" marL="0">
              <a:buNone/>
            </a:pPr>
            <a:r>
              <a:rPr lang="en-US" sz="1600" dirty="0">
                <a:solidFill>
                  <a:srgbClr val="374151"/>
                </a:solidFill>
              </a:rPr>
              <a:t>フィードバック機能</a:t>
            </a:r>
            <a:endParaRPr lang="en-US" sz="1600" dirty="0"/>
          </a:p>
        </p:txBody>
      </p:sp>
      <p:sp>
        <p:nvSpPr>
          <p:cNvPr id="9" name="Text 7"/>
          <p:cNvSpPr/>
          <p:nvPr/>
        </p:nvSpPr>
        <p:spPr>
          <a:xfrm>
            <a:off x="731520" y="4389120"/>
            <a:ext cx="7680960" cy="457200"/>
          </a:xfrm>
          <a:prstGeom prst="rect">
            <a:avLst/>
          </a:prstGeom>
          <a:noFill/>
          <a:ln/>
        </p:spPr>
        <p:txBody>
          <a:bodyPr wrap="square" rtlCol="0" anchor="ctr"/>
          <a:lstStyle/>
          <a:p>
            <a:pPr algn="l" marL="342900" indent="-342900">
              <a:buSzPct val="100000"/>
              <a:buChar char="•"/>
            </a:pPr>
            <a:r>
              <a:rPr lang="en-US" sz="1600" dirty="0">
                <a:solidFill>
                  <a:srgbClr val="374151"/>
                </a:solidFill>
              </a:rPr>
              <a:t>- 応答履歴と閾値差分を可視化</a:t>
            </a:r>
            <a:endParaRPr lang="en-US" sz="1600" dirty="0"/>
          </a:p>
        </p:txBody>
      </p:sp>
      <p:sp>
        <p:nvSpPr>
          <p:cNvPr id="10" name="Text 8"/>
          <p:cNvSpPr/>
          <p:nvPr/>
        </p:nvSpPr>
        <p:spPr>
          <a:xfrm>
            <a:off x="731520" y="4846320"/>
            <a:ext cx="7680960" cy="457200"/>
          </a:xfrm>
          <a:prstGeom prst="rect">
            <a:avLst/>
          </a:prstGeom>
          <a:noFill/>
          <a:ln/>
        </p:spPr>
        <p:txBody>
          <a:bodyPr wrap="square" rtlCol="0" anchor="ctr"/>
          <a:lstStyle/>
          <a:p>
            <a:pPr algn="l" marL="342900" indent="-342900">
              <a:buSzPct val="100000"/>
              <a:buChar char="•"/>
            </a:pPr>
            <a:r>
              <a:rPr lang="en-US" sz="1600" dirty="0">
                <a:solidFill>
                  <a:srgbClr val="374151"/>
                </a:solidFill>
              </a:rPr>
              <a:t>- 過小／過大の理由をコメント表示</a:t>
            </a:r>
            <a:endParaRPr lang="en-US" sz="1600" dirty="0"/>
          </a:p>
        </p:txBody>
      </p:sp>
      <p:sp>
        <p:nvSpPr>
          <p:cNvPr id="11" name="Text 9"/>
          <p:cNvSpPr/>
          <p:nvPr/>
        </p:nvSpPr>
        <p:spPr>
          <a:xfrm>
            <a:off x="731520" y="5303520"/>
            <a:ext cx="7680960" cy="457200"/>
          </a:xfrm>
          <a:prstGeom prst="rect">
            <a:avLst/>
          </a:prstGeom>
          <a:noFill/>
          <a:ln/>
        </p:spPr>
        <p:txBody>
          <a:bodyPr wrap="square" rtlCol="0" anchor="ctr"/>
          <a:lstStyle/>
          <a:p>
            <a:pPr algn="l" marL="342900" indent="-342900">
              <a:buSzPct val="100000"/>
              <a:buChar char="•"/>
            </a:pPr>
            <a:r>
              <a:rPr lang="en-US" sz="1600" dirty="0">
                <a:solidFill>
                  <a:srgbClr val="374151"/>
                </a:solidFill>
              </a:rPr>
              <a:t>- 学習ログで苦手傾向を分析</a:t>
            </a:r>
            <a:endParaRPr lang="en-US" sz="1600" dirty="0"/>
          </a:p>
        </p:txBody>
      </p:sp>
      <p:sp>
        <p:nvSpPr>
          <p:cNvPr id="12" name="Text 10"/>
          <p:cNvSpPr/>
          <p:nvPr/>
        </p:nvSpPr>
        <p:spPr>
          <a:xfrm>
            <a:off x="8778240" y="6217920"/>
            <a:ext cx="365760" cy="274320"/>
          </a:xfrm>
          <a:prstGeom prst="rect">
            <a:avLst/>
          </a:prstGeom>
          <a:noFill/>
          <a:ln/>
        </p:spPr>
        <p:txBody>
          <a:bodyPr wrap="square" rtlCol="0" anchor="ctr"/>
          <a:lstStyle/>
          <a:p>
            <a:pPr algn="r" indent="0" marL="0">
              <a:buNone/>
            </a:pPr>
            <a:r>
              <a:rPr lang="en-US" sz="1200" dirty="0">
                <a:solidFill>
                  <a:srgbClr val="94A3B8"/>
                </a:solidFill>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57200"/>
            <a:ext cx="8229600" cy="731520"/>
          </a:xfrm>
          <a:prstGeom prst="rect">
            <a:avLst/>
          </a:prstGeom>
          <a:noFill/>
          <a:ln/>
        </p:spPr>
        <p:txBody>
          <a:bodyPr wrap="square" rtlCol="0" anchor="ctr"/>
          <a:lstStyle/>
          <a:p>
            <a:pPr algn="l" indent="0" marL="0">
              <a:buNone/>
            </a:pPr>
            <a:r>
              <a:rPr lang="en-US" sz="3200" b="1" dirty="0">
                <a:solidFill>
                  <a:srgbClr val="1F2937"/>
                </a:solidFill>
              </a:rPr>
              <a:t>まとめと次ステップ</a:t>
            </a:r>
            <a:endParaRPr lang="en-US" sz="3200" dirty="0"/>
          </a:p>
        </p:txBody>
      </p:sp>
      <p:sp>
        <p:nvSpPr>
          <p:cNvPr id="3" name="Text 1"/>
          <p:cNvSpPr/>
          <p:nvPr/>
        </p:nvSpPr>
        <p:spPr>
          <a:xfrm>
            <a:off x="731520" y="1645920"/>
            <a:ext cx="7680960" cy="457200"/>
          </a:xfrm>
          <a:prstGeom prst="rect">
            <a:avLst/>
          </a:prstGeom>
          <a:noFill/>
          <a:ln/>
        </p:spPr>
        <p:txBody>
          <a:bodyPr wrap="square" rtlCol="0" anchor="ctr"/>
          <a:lstStyle/>
          <a:p>
            <a:pPr algn="l" indent="0" marL="0">
              <a:buNone/>
            </a:pPr>
            <a:r>
              <a:rPr lang="en-US" sz="1600" dirty="0">
                <a:solidFill>
                  <a:srgbClr val="374151"/>
                </a:solidFill>
              </a:rPr>
              <a:t>まとめと次ステップ</a:t>
            </a:r>
            <a:endParaRPr lang="en-US" sz="1600" dirty="0"/>
          </a:p>
        </p:txBody>
      </p:sp>
      <p:sp>
        <p:nvSpPr>
          <p:cNvPr id="4" name="Text 2"/>
          <p:cNvSpPr/>
          <p:nvPr/>
        </p:nvSpPr>
        <p:spPr>
          <a:xfrm>
            <a:off x="731520" y="2103120"/>
            <a:ext cx="7680960" cy="457200"/>
          </a:xfrm>
          <a:prstGeom prst="rect">
            <a:avLst/>
          </a:prstGeom>
          <a:noFill/>
          <a:ln/>
        </p:spPr>
        <p:txBody>
          <a:bodyPr wrap="square" rtlCol="0" anchor="ctr"/>
          <a:lstStyle/>
          <a:p>
            <a:pPr algn="l" indent="0" marL="0">
              <a:buNone/>
            </a:pPr>
            <a:r>
              <a:rPr lang="en-US" sz="1600" dirty="0">
                <a:solidFill>
                  <a:srgbClr val="374151"/>
                </a:solidFill>
              </a:rPr>
              <a:t>まとめ</a:t>
            </a:r>
            <a:endParaRPr lang="en-US" sz="1600" dirty="0"/>
          </a:p>
        </p:txBody>
      </p:sp>
      <p:sp>
        <p:nvSpPr>
          <p:cNvPr id="5" name="Text 3"/>
          <p:cNvSpPr/>
          <p:nvPr/>
        </p:nvSpPr>
        <p:spPr>
          <a:xfrm>
            <a:off x="731520" y="2560320"/>
            <a:ext cx="7680960" cy="457200"/>
          </a:xfrm>
          <a:prstGeom prst="rect">
            <a:avLst/>
          </a:prstGeom>
          <a:noFill/>
          <a:ln/>
        </p:spPr>
        <p:txBody>
          <a:bodyPr wrap="square" rtlCol="0" anchor="ctr"/>
          <a:lstStyle/>
          <a:p>
            <a:pPr algn="l" marL="342900" indent="-342900">
              <a:buSzPct val="100000"/>
              <a:buChar char="•"/>
            </a:pPr>
            <a:r>
              <a:rPr lang="en-US" sz="1600" dirty="0">
                <a:solidFill>
                  <a:srgbClr val="374151"/>
                </a:solidFill>
              </a:rPr>
              <a:t>- AI 症例生成で臨床的に自然な基礎データを用意</a:t>
            </a:r>
            <a:endParaRPr lang="en-US" sz="1600" dirty="0"/>
          </a:p>
        </p:txBody>
      </p:sp>
      <p:sp>
        <p:nvSpPr>
          <p:cNvPr id="6" name="Text 4"/>
          <p:cNvSpPr/>
          <p:nvPr/>
        </p:nvSpPr>
        <p:spPr>
          <a:xfrm>
            <a:off x="731520" y="3017520"/>
            <a:ext cx="7680960" cy="457200"/>
          </a:xfrm>
          <a:prstGeom prst="rect">
            <a:avLst/>
          </a:prstGeom>
          <a:noFill/>
          <a:ln/>
        </p:spPr>
        <p:txBody>
          <a:bodyPr wrap="square" rtlCol="0" anchor="ctr"/>
          <a:lstStyle/>
          <a:p>
            <a:pPr algn="l" marL="342900" indent="-342900">
              <a:buSzPct val="100000"/>
              <a:buChar char="•"/>
            </a:pPr>
            <a:r>
              <a:rPr lang="en-US" sz="1600" dirty="0">
                <a:solidFill>
                  <a:srgbClr val="374151"/>
                </a:solidFill>
              </a:rPr>
              <a:t>- 5dB下降法→マスキング設定→結果照合の一連を反復学習</a:t>
            </a:r>
            <a:endParaRPr lang="en-US" sz="1600" dirty="0"/>
          </a:p>
        </p:txBody>
      </p:sp>
      <p:sp>
        <p:nvSpPr>
          <p:cNvPr id="7" name="Text 5"/>
          <p:cNvSpPr/>
          <p:nvPr/>
        </p:nvSpPr>
        <p:spPr>
          <a:xfrm>
            <a:off x="731520" y="3474720"/>
            <a:ext cx="7680960" cy="457200"/>
          </a:xfrm>
          <a:prstGeom prst="rect">
            <a:avLst/>
          </a:prstGeom>
          <a:noFill/>
          <a:ln/>
        </p:spPr>
        <p:txBody>
          <a:bodyPr wrap="square" rtlCol="0" anchor="ctr"/>
          <a:lstStyle/>
          <a:p>
            <a:pPr algn="l" marL="342900" indent="-342900">
              <a:buSzPct val="100000"/>
              <a:buChar char="•"/>
            </a:pPr>
            <a:r>
              <a:rPr lang="en-US" sz="1600" dirty="0">
                <a:solidFill>
                  <a:srgbClr val="374151"/>
                </a:solidFill>
              </a:rPr>
              <a:t>- クロスヒアリング／オーバーマスキングを計画的に体験</a:t>
            </a:r>
            <a:endParaRPr lang="en-US" sz="1600" dirty="0"/>
          </a:p>
        </p:txBody>
      </p:sp>
      <p:sp>
        <p:nvSpPr>
          <p:cNvPr id="8" name="Text 6"/>
          <p:cNvSpPr/>
          <p:nvPr/>
        </p:nvSpPr>
        <p:spPr>
          <a:xfrm>
            <a:off x="731520" y="3931920"/>
            <a:ext cx="7680960" cy="457200"/>
          </a:xfrm>
          <a:prstGeom prst="rect">
            <a:avLst/>
          </a:prstGeom>
          <a:noFill/>
          <a:ln/>
        </p:spPr>
        <p:txBody>
          <a:bodyPr wrap="square" rtlCol="0" anchor="ctr"/>
          <a:lstStyle/>
          <a:p>
            <a:pPr algn="l" indent="0" marL="0">
              <a:buNone/>
            </a:pPr>
            <a:r>
              <a:rPr lang="en-US" sz="1600" dirty="0">
                <a:solidFill>
                  <a:srgbClr val="374151"/>
                </a:solidFill>
              </a:rPr>
              <a:t>次ステップ</a:t>
            </a:r>
            <a:endParaRPr lang="en-US" sz="1600" dirty="0"/>
          </a:p>
        </p:txBody>
      </p:sp>
      <p:sp>
        <p:nvSpPr>
          <p:cNvPr id="9" name="Text 7"/>
          <p:cNvSpPr/>
          <p:nvPr/>
        </p:nvSpPr>
        <p:spPr>
          <a:xfrm>
            <a:off x="731520" y="4389120"/>
            <a:ext cx="7680960" cy="457200"/>
          </a:xfrm>
          <a:prstGeom prst="rect">
            <a:avLst/>
          </a:prstGeom>
          <a:noFill/>
          <a:ln/>
        </p:spPr>
        <p:txBody>
          <a:bodyPr wrap="square" rtlCol="0" anchor="ctr"/>
          <a:lstStyle/>
          <a:p>
            <a:pPr algn="l" marL="342900" indent="-342900">
              <a:buSzPct val="100000"/>
              <a:buChar char="•"/>
            </a:pPr>
            <a:r>
              <a:rPr lang="en-US" sz="1600" dirty="0">
                <a:solidFill>
                  <a:srgbClr val="374151"/>
                </a:solidFill>
              </a:rPr>
              <a:t>- 追加シナリオ（重症度・疾患拡張）の投入</a:t>
            </a:r>
            <a:endParaRPr lang="en-US" sz="1600" dirty="0"/>
          </a:p>
        </p:txBody>
      </p:sp>
      <p:sp>
        <p:nvSpPr>
          <p:cNvPr id="10" name="Text 8"/>
          <p:cNvSpPr/>
          <p:nvPr/>
        </p:nvSpPr>
        <p:spPr>
          <a:xfrm>
            <a:off x="731520" y="4846320"/>
            <a:ext cx="7680960" cy="457200"/>
          </a:xfrm>
          <a:prstGeom prst="rect">
            <a:avLst/>
          </a:prstGeom>
          <a:noFill/>
          <a:ln/>
        </p:spPr>
        <p:txBody>
          <a:bodyPr wrap="square" rtlCol="0" anchor="ctr"/>
          <a:lstStyle/>
          <a:p>
            <a:pPr algn="l" marL="342900" indent="-342900">
              <a:buSzPct val="100000"/>
              <a:buChar char="•"/>
            </a:pPr>
            <a:r>
              <a:rPr lang="en-US" sz="1600" dirty="0">
                <a:solidFill>
                  <a:srgbClr val="374151"/>
                </a:solidFill>
              </a:rPr>
              <a:t>- 結果レポートの自動生成</a:t>
            </a:r>
            <a:endParaRPr lang="en-US" sz="1600" dirty="0"/>
          </a:p>
        </p:txBody>
      </p:sp>
      <p:sp>
        <p:nvSpPr>
          <p:cNvPr id="11" name="Text 9"/>
          <p:cNvSpPr/>
          <p:nvPr/>
        </p:nvSpPr>
        <p:spPr>
          <a:xfrm>
            <a:off x="731520" y="5303520"/>
            <a:ext cx="7680960" cy="457200"/>
          </a:xfrm>
          <a:prstGeom prst="rect">
            <a:avLst/>
          </a:prstGeom>
          <a:noFill/>
          <a:ln/>
        </p:spPr>
        <p:txBody>
          <a:bodyPr wrap="square" rtlCol="0" anchor="ctr"/>
          <a:lstStyle/>
          <a:p>
            <a:pPr algn="l" marL="342900" indent="-342900">
              <a:buSzPct val="100000"/>
              <a:buChar char="•"/>
            </a:pPr>
            <a:r>
              <a:rPr lang="en-US" sz="1600" dirty="0">
                <a:solidFill>
                  <a:srgbClr val="374151"/>
                </a:solidFill>
              </a:rPr>
              <a:t>- LMS/実機連携の検証と導入</a:t>
            </a:r>
            <a:endParaRPr lang="en-US" sz="1600" dirty="0"/>
          </a:p>
        </p:txBody>
      </p:sp>
      <p:sp>
        <p:nvSpPr>
          <p:cNvPr id="12" name="Text 10"/>
          <p:cNvSpPr/>
          <p:nvPr/>
        </p:nvSpPr>
        <p:spPr>
          <a:xfrm>
            <a:off x="8778240" y="6217920"/>
            <a:ext cx="365760" cy="274320"/>
          </a:xfrm>
          <a:prstGeom prst="rect">
            <a:avLst/>
          </a:prstGeom>
          <a:noFill/>
          <a:ln/>
        </p:spPr>
        <p:txBody>
          <a:bodyPr wrap="square" rtlCol="0" anchor="ctr"/>
          <a:lstStyle/>
          <a:p>
            <a:pPr algn="r" indent="0" marL="0">
              <a:buNone/>
            </a:pPr>
            <a:r>
              <a:rPr lang="en-US" sz="1200" dirty="0">
                <a:solidFill>
                  <a:srgbClr val="94A3B8"/>
                </a:solidFill>
              </a:rPr>
              <a:t>13</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2025-11-08T04:30:05Z</dcterms:created>
  <dcterms:modified xsi:type="dcterms:W3CDTF">2025-11-08T04:30:05Z</dcterms:modified>
</cp:coreProperties>
</file>